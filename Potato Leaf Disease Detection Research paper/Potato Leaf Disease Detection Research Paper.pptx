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900"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titled Section" id="{CDCCEAB7-A692-4498-808B-E1AE70940FC2}">
          <p14:sldIdLst>
            <p14:sldId id="256"/>
            <p14:sldId id="257"/>
            <p14:sldId id="258"/>
            <p14:sldId id="259"/>
            <p14:sldId id="260"/>
            <p14:sldId id="261"/>
            <p14:sldId id="262"/>
            <p14:sldId id="263"/>
            <p14:sldId id="264"/>
            <p14:sldId id="265"/>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204" autoAdjust="0"/>
    <p:restoredTop sz="94660"/>
  </p:normalViewPr>
  <p:slideViewPr>
    <p:cSldViewPr snapToGrid="0">
      <p:cViewPr varScale="1">
        <p:scale>
          <a:sx n="82" d="100"/>
          <a:sy n="82" d="100"/>
        </p:scale>
        <p:origin x="71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08F04BC-78FE-439D-A2FA-128C4755C804}" type="datetimeFigureOut">
              <a:rPr lang="en-IN" smtClean="0"/>
              <a:t>17-10-2023</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2BD35D8-30F4-4A3A-98F6-03875943A72F}" type="slidenum">
              <a:rPr lang="en-IN" smtClean="0"/>
              <a:t>‹#›</a:t>
            </a:fld>
            <a:endParaRPr lang="en-IN"/>
          </a:p>
        </p:txBody>
      </p:sp>
    </p:spTree>
    <p:extLst>
      <p:ext uri="{BB962C8B-B14F-4D97-AF65-F5344CB8AC3E}">
        <p14:creationId xmlns:p14="http://schemas.microsoft.com/office/powerpoint/2010/main" val="12218681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84E46C8-F479-4A2D-8452-2E7EE41E2CA0}" type="datetime1">
              <a:rPr lang="en-IN" smtClean="0"/>
              <a:t>17-10-2023</a:t>
            </a:fld>
            <a:endParaRPr lang="en-IN"/>
          </a:p>
        </p:txBody>
      </p:sp>
      <p:sp>
        <p:nvSpPr>
          <p:cNvPr id="5" name="Footer Placeholder 4"/>
          <p:cNvSpPr>
            <a:spLocks noGrp="1"/>
          </p:cNvSpPr>
          <p:nvPr>
            <p:ph type="ftr" sz="quarter" idx="11"/>
          </p:nvPr>
        </p:nvSpPr>
        <p:spPr>
          <a:xfrm>
            <a:off x="5332412" y="5883275"/>
            <a:ext cx="4324044" cy="365125"/>
          </a:xfrm>
        </p:spPr>
        <p:txBody>
          <a:bodyPr/>
          <a:lstStyle/>
          <a:p>
            <a:endParaRPr lang="en-IN"/>
          </a:p>
        </p:txBody>
      </p:sp>
      <p:sp>
        <p:nvSpPr>
          <p:cNvPr id="6" name="Slide Number Placeholder 5"/>
          <p:cNvSpPr>
            <a:spLocks noGrp="1"/>
          </p:cNvSpPr>
          <p:nvPr>
            <p:ph type="sldNum" sz="quarter" idx="12"/>
          </p:nvPr>
        </p:nvSpPr>
        <p:spPr/>
        <p:txBody>
          <a:bodyPr/>
          <a:lstStyle/>
          <a:p>
            <a:fld id="{20FD3C23-7D33-4985-8AE7-711D75D685E8}" type="slidenum">
              <a:rPr lang="en-IN" smtClean="0"/>
              <a:t>‹#›</a:t>
            </a:fld>
            <a:endParaRPr lang="en-IN"/>
          </a:p>
        </p:txBody>
      </p:sp>
    </p:spTree>
    <p:extLst>
      <p:ext uri="{BB962C8B-B14F-4D97-AF65-F5344CB8AC3E}">
        <p14:creationId xmlns:p14="http://schemas.microsoft.com/office/powerpoint/2010/main" val="31207514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739D52B-BCC3-4C64-BC7F-8B720CDABC7D}" type="datetime1">
              <a:rPr lang="en-IN" smtClean="0"/>
              <a:t>17-10-2023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10951856" y="5867131"/>
            <a:ext cx="551167" cy="365125"/>
          </a:xfrm>
        </p:spPr>
        <p:txBody>
          <a:bodyPr/>
          <a:lstStyle/>
          <a:p>
            <a:fld id="{20FD3C23-7D33-4985-8AE7-711D75D685E8}" type="slidenum">
              <a:rPr lang="en-IN" smtClean="0"/>
              <a:t>‹#›</a:t>
            </a:fld>
            <a:endParaRPr lang="en-IN"/>
          </a:p>
        </p:txBody>
      </p:sp>
    </p:spTree>
    <p:extLst>
      <p:ext uri="{BB962C8B-B14F-4D97-AF65-F5344CB8AC3E}">
        <p14:creationId xmlns:p14="http://schemas.microsoft.com/office/powerpoint/2010/main" val="20616962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500E303-29B4-4CEC-BDFF-F30A3A4A010B}" type="datetime1">
              <a:rPr lang="en-IN" smtClean="0"/>
              <a:t>17-10-2023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0FD3C23-7D33-4985-8AE7-711D75D685E8}" type="slidenum">
              <a:rPr lang="en-IN" smtClean="0"/>
              <a:t>‹#›</a:t>
            </a:fld>
            <a:endParaRPr lang="en-IN"/>
          </a:p>
        </p:txBody>
      </p:sp>
    </p:spTree>
    <p:extLst>
      <p:ext uri="{BB962C8B-B14F-4D97-AF65-F5344CB8AC3E}">
        <p14:creationId xmlns:p14="http://schemas.microsoft.com/office/powerpoint/2010/main" val="34927206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5C78793-BFA5-49AE-94F6-C11EFBDF1D83}" type="datetime1">
              <a:rPr lang="en-IN" smtClean="0"/>
              <a:t>17-10-2023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0FD3C23-7D33-4985-8AE7-711D75D685E8}" type="slidenum">
              <a:rPr lang="en-IN" smtClean="0"/>
              <a:t>‹#›</a:t>
            </a:fld>
            <a:endParaRPr lang="en-IN"/>
          </a:p>
        </p:txBody>
      </p:sp>
    </p:spTree>
    <p:extLst>
      <p:ext uri="{BB962C8B-B14F-4D97-AF65-F5344CB8AC3E}">
        <p14:creationId xmlns:p14="http://schemas.microsoft.com/office/powerpoint/2010/main" val="15393995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824EDC0-7C8D-4716-9199-A7F16A63BA47}" type="datetime1">
              <a:rPr lang="en-IN" smtClean="0"/>
              <a:t>17-10-2023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20FD3C23-7D33-4985-8AE7-711D75D685E8}" type="slidenum">
              <a:rPr lang="en-IN" smtClean="0"/>
              <a:t>‹#›</a:t>
            </a:fld>
            <a:endParaRPr lang="en-IN"/>
          </a:p>
        </p:txBody>
      </p:sp>
    </p:spTree>
    <p:extLst>
      <p:ext uri="{BB962C8B-B14F-4D97-AF65-F5344CB8AC3E}">
        <p14:creationId xmlns:p14="http://schemas.microsoft.com/office/powerpoint/2010/main" val="40359294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A62F412-A611-4BD3-BD38-6E39233F3E98}" type="datetime1">
              <a:rPr lang="en-IN" smtClean="0"/>
              <a:t>17-10-2023</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0FD3C23-7D33-4985-8AE7-711D75D685E8}" type="slidenum">
              <a:rPr lang="en-IN" smtClean="0"/>
              <a:t>‹#›</a:t>
            </a:fld>
            <a:endParaRPr lang="en-IN"/>
          </a:p>
        </p:txBody>
      </p:sp>
    </p:spTree>
    <p:extLst>
      <p:ext uri="{BB962C8B-B14F-4D97-AF65-F5344CB8AC3E}">
        <p14:creationId xmlns:p14="http://schemas.microsoft.com/office/powerpoint/2010/main" val="38437636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338C589-BC02-47CB-A460-3DD0A5E743E2}" type="datetime1">
              <a:rPr lang="en-IN" smtClean="0"/>
              <a:t>17-10-2023</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20FD3C23-7D33-4985-8AE7-711D75D685E8}" type="slidenum">
              <a:rPr lang="en-IN" smtClean="0"/>
              <a:t>‹#›</a:t>
            </a:fld>
            <a:endParaRPr lang="en-IN"/>
          </a:p>
        </p:txBody>
      </p:sp>
    </p:spTree>
    <p:extLst>
      <p:ext uri="{BB962C8B-B14F-4D97-AF65-F5344CB8AC3E}">
        <p14:creationId xmlns:p14="http://schemas.microsoft.com/office/powerpoint/2010/main" val="42647675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A7623F8-147C-4405-B1AB-BCCC04AE6348}" type="datetime1">
              <a:rPr lang="en-IN" smtClean="0"/>
              <a:t>17-10-2023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0FD3C23-7D33-4985-8AE7-711D75D685E8}" type="slidenum">
              <a:rPr lang="en-IN" smtClean="0"/>
              <a:t>‹#›</a:t>
            </a:fld>
            <a:endParaRPr lang="en-IN"/>
          </a:p>
        </p:txBody>
      </p:sp>
    </p:spTree>
    <p:extLst>
      <p:ext uri="{BB962C8B-B14F-4D97-AF65-F5344CB8AC3E}">
        <p14:creationId xmlns:p14="http://schemas.microsoft.com/office/powerpoint/2010/main" val="6445196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6A7C87C-F3E0-48F5-807A-91BEE0559A0E}" type="datetime1">
              <a:rPr lang="en-IN" smtClean="0"/>
              <a:t>17-10-2023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0FD3C23-7D33-4985-8AE7-711D75D685E8}" type="slidenum">
              <a:rPr lang="en-IN" smtClean="0"/>
              <a:t>‹#›</a:t>
            </a:fld>
            <a:endParaRPr lang="en-IN"/>
          </a:p>
        </p:txBody>
      </p:sp>
    </p:spTree>
    <p:extLst>
      <p:ext uri="{BB962C8B-B14F-4D97-AF65-F5344CB8AC3E}">
        <p14:creationId xmlns:p14="http://schemas.microsoft.com/office/powerpoint/2010/main" val="7294240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15545F3-CDD5-451F-A9CB-B1E82C84C4B3}" type="datetime1">
              <a:rPr lang="en-IN" smtClean="0"/>
              <a:t>17-10-2023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0FD3C23-7D33-4985-8AE7-711D75D685E8}" type="slidenum">
              <a:rPr lang="en-IN" smtClean="0"/>
              <a:t>‹#›</a:t>
            </a:fld>
            <a:endParaRPr lang="en-IN"/>
          </a:p>
        </p:txBody>
      </p:sp>
    </p:spTree>
    <p:extLst>
      <p:ext uri="{BB962C8B-B14F-4D97-AF65-F5344CB8AC3E}">
        <p14:creationId xmlns:p14="http://schemas.microsoft.com/office/powerpoint/2010/main" val="25500747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0C7F5F1-86DA-4231-8087-96C4E4ACDADE}" type="datetime1">
              <a:rPr lang="en-IN" smtClean="0"/>
              <a:t>17-10-2023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0FD3C23-7D33-4985-8AE7-711D75D685E8}" type="slidenum">
              <a:rPr lang="en-IN" smtClean="0"/>
              <a:t>‹#›</a:t>
            </a:fld>
            <a:endParaRPr lang="en-IN"/>
          </a:p>
        </p:txBody>
      </p:sp>
    </p:spTree>
    <p:extLst>
      <p:ext uri="{BB962C8B-B14F-4D97-AF65-F5344CB8AC3E}">
        <p14:creationId xmlns:p14="http://schemas.microsoft.com/office/powerpoint/2010/main" val="11471139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26A90B9-4BF0-4D57-97C8-AC2485FCDFB5}" type="datetime1">
              <a:rPr lang="en-IN" smtClean="0"/>
              <a:t>17-10-2023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0FD3C23-7D33-4985-8AE7-711D75D685E8}" type="slidenum">
              <a:rPr lang="en-IN" smtClean="0"/>
              <a:t>‹#›</a:t>
            </a:fld>
            <a:endParaRPr lang="en-IN"/>
          </a:p>
        </p:txBody>
      </p:sp>
    </p:spTree>
    <p:extLst>
      <p:ext uri="{BB962C8B-B14F-4D97-AF65-F5344CB8AC3E}">
        <p14:creationId xmlns:p14="http://schemas.microsoft.com/office/powerpoint/2010/main" val="14710489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7A6364F-C2C3-4491-9C29-F22FB97733B6}" type="datetime1">
              <a:rPr lang="en-IN" smtClean="0"/>
              <a:t>17-10-2023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0FD3C23-7D33-4985-8AE7-711D75D685E8}" type="slidenum">
              <a:rPr lang="en-IN" smtClean="0"/>
              <a:t>‹#›</a:t>
            </a:fld>
            <a:endParaRPr lang="en-IN"/>
          </a:p>
        </p:txBody>
      </p:sp>
    </p:spTree>
    <p:extLst>
      <p:ext uri="{BB962C8B-B14F-4D97-AF65-F5344CB8AC3E}">
        <p14:creationId xmlns:p14="http://schemas.microsoft.com/office/powerpoint/2010/main" val="158781108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47BC514-13E3-4CA0-A474-A69EFD79A608}" type="datetime1">
              <a:rPr lang="en-IN" smtClean="0"/>
              <a:t>17-10-2023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0FD3C23-7D33-4985-8AE7-711D75D685E8}" type="slidenum">
              <a:rPr lang="en-IN" smtClean="0"/>
              <a:t>‹#›</a:t>
            </a:fld>
            <a:endParaRPr lang="en-IN"/>
          </a:p>
        </p:txBody>
      </p:sp>
    </p:spTree>
    <p:extLst>
      <p:ext uri="{BB962C8B-B14F-4D97-AF65-F5344CB8AC3E}">
        <p14:creationId xmlns:p14="http://schemas.microsoft.com/office/powerpoint/2010/main" val="220141913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3A79F4E-51E2-49E7-AE27-BA2280A19CD3}" type="datetime1">
              <a:rPr lang="en-IN" smtClean="0"/>
              <a:t>17-10-2023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0FD3C23-7D33-4985-8AE7-711D75D685E8}" type="slidenum">
              <a:rPr lang="en-IN" smtClean="0"/>
              <a:t>‹#›</a:t>
            </a:fld>
            <a:endParaRPr lang="en-IN"/>
          </a:p>
        </p:txBody>
      </p:sp>
    </p:spTree>
    <p:extLst>
      <p:ext uri="{BB962C8B-B14F-4D97-AF65-F5344CB8AC3E}">
        <p14:creationId xmlns:p14="http://schemas.microsoft.com/office/powerpoint/2010/main" val="331228593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C3D451B-E016-43B9-BD6F-B37443E4CB1B}" type="datetime1">
              <a:rPr lang="en-IN" smtClean="0"/>
              <a:t>17-10-2023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0FD3C23-7D33-4985-8AE7-711D75D685E8}" type="slidenum">
              <a:rPr lang="en-IN" smtClean="0"/>
              <a:t>‹#›</a:t>
            </a:fld>
            <a:endParaRPr lang="en-IN"/>
          </a:p>
        </p:txBody>
      </p:sp>
    </p:spTree>
    <p:extLst>
      <p:ext uri="{BB962C8B-B14F-4D97-AF65-F5344CB8AC3E}">
        <p14:creationId xmlns:p14="http://schemas.microsoft.com/office/powerpoint/2010/main" val="264127205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3E16F04-30C2-4C66-8B9D-A249F9814472}" type="datetime1">
              <a:rPr lang="en-IN" smtClean="0"/>
              <a:t>17-10-2023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0FD3C23-7D33-4985-8AE7-711D75D685E8}" type="slidenum">
              <a:rPr lang="en-IN" smtClean="0"/>
              <a:t>‹#›</a:t>
            </a:fld>
            <a:endParaRPr lang="en-IN"/>
          </a:p>
        </p:txBody>
      </p:sp>
    </p:spTree>
    <p:extLst>
      <p:ext uri="{BB962C8B-B14F-4D97-AF65-F5344CB8AC3E}">
        <p14:creationId xmlns:p14="http://schemas.microsoft.com/office/powerpoint/2010/main" val="6149893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AD257CAC-0E53-4EA3-9C33-91A25488354B}" type="datetime1">
              <a:rPr lang="en-IN" smtClean="0"/>
              <a:t>17-10-2023</a:t>
            </a:fld>
            <a:endParaRPr lang="en-IN"/>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20FD3C23-7D33-4985-8AE7-711D75D685E8}" type="slidenum">
              <a:rPr lang="en-IN" smtClean="0"/>
              <a:t>‹#›</a:t>
            </a:fld>
            <a:endParaRPr lang="en-IN"/>
          </a:p>
        </p:txBody>
      </p:sp>
    </p:spTree>
    <p:extLst>
      <p:ext uri="{BB962C8B-B14F-4D97-AF65-F5344CB8AC3E}">
        <p14:creationId xmlns:p14="http://schemas.microsoft.com/office/powerpoint/2010/main" val="391460903"/>
      </p:ext>
    </p:extLst>
  </p:cSld>
  <p:clrMap bg1="lt1" tx1="dk1" bg2="lt2" tx2="dk2" accent1="accent1" accent2="accent2" accent3="accent3" accent4="accent4" accent5="accent5" accent6="accent6" hlink="hlink" folHlink="folHlink"/>
  <p:sldLayoutIdLst>
    <p:sldLayoutId id="2147483901" r:id="rId1"/>
    <p:sldLayoutId id="2147483902" r:id="rId2"/>
    <p:sldLayoutId id="2147483903" r:id="rId3"/>
    <p:sldLayoutId id="2147483904" r:id="rId4"/>
    <p:sldLayoutId id="2147483905" r:id="rId5"/>
    <p:sldLayoutId id="2147483906" r:id="rId6"/>
    <p:sldLayoutId id="2147483907" r:id="rId7"/>
    <p:sldLayoutId id="2147483908" r:id="rId8"/>
    <p:sldLayoutId id="2147483909" r:id="rId9"/>
    <p:sldLayoutId id="2147483910" r:id="rId10"/>
    <p:sldLayoutId id="2147483911" r:id="rId11"/>
    <p:sldLayoutId id="2147483912" r:id="rId12"/>
    <p:sldLayoutId id="2147483913" r:id="rId13"/>
    <p:sldLayoutId id="2147483914" r:id="rId14"/>
    <p:sldLayoutId id="2147483915" r:id="rId15"/>
    <p:sldLayoutId id="2147483916" r:id="rId16"/>
    <p:sldLayoutId id="2147483917" r:id="rId17"/>
  </p:sldLayoutIdLst>
  <p:hf hdr="0" ftr="0" dt="0"/>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FD3692-D72B-700D-130F-C69E037E7A00}"/>
              </a:ext>
            </a:extLst>
          </p:cNvPr>
          <p:cNvSpPr>
            <a:spLocks noGrp="1"/>
          </p:cNvSpPr>
          <p:nvPr>
            <p:ph type="ctrTitle"/>
          </p:nvPr>
        </p:nvSpPr>
        <p:spPr/>
        <p:txBody>
          <a:bodyPr/>
          <a:lstStyle/>
          <a:p>
            <a:r>
              <a:rPr lang="en-US" dirty="0"/>
              <a:t>Potato Leaf Disease Detection</a:t>
            </a:r>
            <a:endParaRPr lang="en-IN" dirty="0"/>
          </a:p>
        </p:txBody>
      </p:sp>
      <p:sp>
        <p:nvSpPr>
          <p:cNvPr id="3" name="Subtitle 2">
            <a:extLst>
              <a:ext uri="{FF2B5EF4-FFF2-40B4-BE49-F238E27FC236}">
                <a16:creationId xmlns:a16="http://schemas.microsoft.com/office/drawing/2014/main" id="{CE83646D-862F-9FF7-2834-FF124372C533}"/>
              </a:ext>
            </a:extLst>
          </p:cNvPr>
          <p:cNvSpPr>
            <a:spLocks noGrp="1"/>
          </p:cNvSpPr>
          <p:nvPr>
            <p:ph type="subTitle" idx="1"/>
          </p:nvPr>
        </p:nvSpPr>
        <p:spPr/>
        <p:txBody>
          <a:bodyPr>
            <a:normAutofit/>
          </a:bodyPr>
          <a:lstStyle/>
          <a:p>
            <a:r>
              <a:rPr lang="en-US" dirty="0"/>
              <a:t>Deep </a:t>
            </a:r>
            <a:r>
              <a:rPr lang="en-US" dirty="0" err="1"/>
              <a:t>Rohit</a:t>
            </a:r>
            <a:r>
              <a:rPr lang="en-US" dirty="0"/>
              <a:t> (</a:t>
            </a:r>
            <a:r>
              <a:rPr lang="en-US" dirty="0">
                <a:latin typeface="Times New Roman" panose="02020603050405020304" pitchFamily="18" charset="0"/>
                <a:cs typeface="Times New Roman" panose="02020603050405020304" pitchFamily="18" charset="0"/>
              </a:rPr>
              <a:t>21DCS105</a:t>
            </a:r>
            <a:r>
              <a:rPr lang="en-US" dirty="0"/>
              <a:t>)</a:t>
            </a:r>
          </a:p>
          <a:p>
            <a:r>
              <a:rPr lang="en-US" dirty="0"/>
              <a:t>Asst. Prof. </a:t>
            </a:r>
            <a:r>
              <a:rPr lang="en-US" dirty="0" err="1"/>
              <a:t>Mohini</a:t>
            </a:r>
            <a:r>
              <a:rPr lang="en-US" dirty="0"/>
              <a:t> </a:t>
            </a:r>
            <a:r>
              <a:rPr lang="en-US" dirty="0" err="1"/>
              <a:t>Darji</a:t>
            </a:r>
            <a:endParaRPr lang="en-US" dirty="0"/>
          </a:p>
          <a:p>
            <a:r>
              <a:rPr lang="en-US" dirty="0"/>
              <a:t>Dr. Jatin Patel</a:t>
            </a:r>
          </a:p>
        </p:txBody>
      </p:sp>
      <p:sp>
        <p:nvSpPr>
          <p:cNvPr id="6" name="TextBox 5">
            <a:extLst>
              <a:ext uri="{FF2B5EF4-FFF2-40B4-BE49-F238E27FC236}">
                <a16:creationId xmlns:a16="http://schemas.microsoft.com/office/drawing/2014/main" id="{E1CB230B-93BE-29CA-5A8B-F92E2F17CD1B}"/>
              </a:ext>
            </a:extLst>
          </p:cNvPr>
          <p:cNvSpPr txBox="1"/>
          <p:nvPr/>
        </p:nvSpPr>
        <p:spPr>
          <a:xfrm>
            <a:off x="4319101" y="5384801"/>
            <a:ext cx="4636148" cy="1200329"/>
          </a:xfrm>
          <a:prstGeom prst="rect">
            <a:avLst/>
          </a:prstGeom>
          <a:noFill/>
        </p:spPr>
        <p:txBody>
          <a:bodyPr wrap="square">
            <a:spAutoFit/>
          </a:bodyPr>
          <a:lstStyle/>
          <a:p>
            <a:pPr algn="ctr"/>
            <a:r>
              <a:rPr lang="en-US" b="1" i="0" dirty="0">
                <a:solidFill>
                  <a:srgbClr val="333333"/>
                </a:solidFill>
                <a:effectLst/>
                <a:latin typeface="Proxima Nova"/>
              </a:rPr>
              <a:t>2nd World Conference On</a:t>
            </a:r>
          </a:p>
          <a:p>
            <a:pPr algn="ctr"/>
            <a:r>
              <a:rPr lang="en-US" b="1" i="0" dirty="0">
                <a:solidFill>
                  <a:srgbClr val="333333"/>
                </a:solidFill>
                <a:effectLst/>
                <a:latin typeface="Proxima Nova"/>
              </a:rPr>
              <a:t>Information Systems for Business Management</a:t>
            </a:r>
            <a:r>
              <a:rPr lang="en-US" b="0" i="0" dirty="0">
                <a:solidFill>
                  <a:srgbClr val="333333"/>
                </a:solidFill>
                <a:effectLst/>
                <a:latin typeface="Proxima Nova"/>
              </a:rPr>
              <a:t> </a:t>
            </a:r>
          </a:p>
          <a:p>
            <a:pPr algn="ctr"/>
            <a:r>
              <a:rPr lang="en-IN" b="1" dirty="0"/>
              <a:t>ISBM 2023</a:t>
            </a:r>
          </a:p>
        </p:txBody>
      </p:sp>
      <p:pic>
        <p:nvPicPr>
          <p:cNvPr id="8" name="Picture 7">
            <a:extLst>
              <a:ext uri="{FF2B5EF4-FFF2-40B4-BE49-F238E27FC236}">
                <a16:creationId xmlns:a16="http://schemas.microsoft.com/office/drawing/2014/main" id="{B1EBF863-9905-05A2-26D1-6561C5374B3C}"/>
              </a:ext>
            </a:extLst>
          </p:cNvPr>
          <p:cNvPicPr>
            <a:picLocks noChangeAspect="1"/>
          </p:cNvPicPr>
          <p:nvPr/>
        </p:nvPicPr>
        <p:blipFill>
          <a:blip r:embed="rId2"/>
          <a:stretch>
            <a:fillRect/>
          </a:stretch>
        </p:blipFill>
        <p:spPr>
          <a:xfrm>
            <a:off x="2213678" y="39169"/>
            <a:ext cx="9182896" cy="1044030"/>
          </a:xfrm>
          <a:prstGeom prst="rect">
            <a:avLst/>
          </a:prstGeom>
        </p:spPr>
      </p:pic>
      <p:pic>
        <p:nvPicPr>
          <p:cNvPr id="1026" name="Picture 2">
            <a:extLst>
              <a:ext uri="{FF2B5EF4-FFF2-40B4-BE49-F238E27FC236}">
                <a16:creationId xmlns:a16="http://schemas.microsoft.com/office/drawing/2014/main" id="{E3D369FA-98E5-AF88-E1A4-714E764A4C9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92254" y="5537198"/>
            <a:ext cx="2761133" cy="1320802"/>
          </a:xfrm>
          <a:prstGeom prst="rect">
            <a:avLst/>
          </a:prstGeom>
          <a:noFill/>
          <a:extLst>
            <a:ext uri="{909E8E84-426E-40DD-AFC4-6F175D3DCCD1}">
              <a14:hiddenFill xmlns:a14="http://schemas.microsoft.com/office/drawing/2010/main">
                <a:solidFill>
                  <a:srgbClr val="FFFFFF"/>
                </a:solidFill>
              </a14:hiddenFill>
            </a:ext>
          </a:extLst>
        </p:spPr>
      </p:pic>
      <p:pic>
        <p:nvPicPr>
          <p:cNvPr id="9" name="Content Placeholder 6">
            <a:extLst>
              <a:ext uri="{FF2B5EF4-FFF2-40B4-BE49-F238E27FC236}">
                <a16:creationId xmlns:a16="http://schemas.microsoft.com/office/drawing/2014/main" id="{A568F93F-AC56-27D6-A756-AE4E108ED937}"/>
              </a:ext>
            </a:extLst>
          </p:cNvPr>
          <p:cNvPicPr>
            <a:picLocks noChangeAspect="1"/>
          </p:cNvPicPr>
          <p:nvPr/>
        </p:nvPicPr>
        <p:blipFill>
          <a:blip r:embed="rId4">
            <a:alphaModFix amt="93000"/>
          </a:blip>
          <a:stretch>
            <a:fillRect/>
          </a:stretch>
        </p:blipFill>
        <p:spPr>
          <a:xfrm>
            <a:off x="159911" y="5002988"/>
            <a:ext cx="1463703" cy="1582142"/>
          </a:xfrm>
          <a:prstGeom prst="rect">
            <a:avLst/>
          </a:prstGeom>
          <a:effectLst>
            <a:reflection blurRad="6350" stA="52000" endA="300" endPos="35000" dir="5400000" sy="-100000" algn="bl" rotWithShape="0"/>
          </a:effectLst>
        </p:spPr>
      </p:pic>
    </p:spTree>
    <p:extLst>
      <p:ext uri="{BB962C8B-B14F-4D97-AF65-F5344CB8AC3E}">
        <p14:creationId xmlns:p14="http://schemas.microsoft.com/office/powerpoint/2010/main" val="13523855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158B9E-1C41-D942-4DC4-1A2EA9C58D24}"/>
              </a:ext>
            </a:extLst>
          </p:cNvPr>
          <p:cNvSpPr>
            <a:spLocks noGrp="1"/>
          </p:cNvSpPr>
          <p:nvPr>
            <p:ph type="title"/>
          </p:nvPr>
        </p:nvSpPr>
        <p:spPr/>
        <p:txBody>
          <a:bodyPr/>
          <a:lstStyle/>
          <a:p>
            <a:r>
              <a:rPr lang="en-US" dirty="0"/>
              <a:t>Outline</a:t>
            </a:r>
            <a:endParaRPr lang="en-IN" dirty="0"/>
          </a:p>
        </p:txBody>
      </p:sp>
      <p:sp>
        <p:nvSpPr>
          <p:cNvPr id="3" name="Content Placeholder 2">
            <a:extLst>
              <a:ext uri="{FF2B5EF4-FFF2-40B4-BE49-F238E27FC236}">
                <a16:creationId xmlns:a16="http://schemas.microsoft.com/office/drawing/2014/main" id="{B51EA6A0-7A85-F314-646B-2CAFF08B2D64}"/>
              </a:ext>
            </a:extLst>
          </p:cNvPr>
          <p:cNvSpPr>
            <a:spLocks noGrp="1"/>
          </p:cNvSpPr>
          <p:nvPr>
            <p:ph idx="1"/>
          </p:nvPr>
        </p:nvSpPr>
        <p:spPr/>
        <p:txBody>
          <a:bodyPr/>
          <a:lstStyle/>
          <a:p>
            <a:r>
              <a:rPr lang="en-US" dirty="0"/>
              <a:t>INTRODUCTION</a:t>
            </a:r>
          </a:p>
          <a:p>
            <a:r>
              <a:rPr lang="en-US" dirty="0"/>
              <a:t>LITERATURE SURVEY </a:t>
            </a:r>
          </a:p>
          <a:p>
            <a:r>
              <a:rPr lang="en-US" dirty="0"/>
              <a:t>METHODOLOGY</a:t>
            </a:r>
          </a:p>
          <a:p>
            <a:r>
              <a:rPr lang="en-US" dirty="0"/>
              <a:t>RESULT AND OUTCOMES</a:t>
            </a:r>
          </a:p>
          <a:p>
            <a:r>
              <a:rPr lang="en-US" dirty="0"/>
              <a:t>CONCLUSION</a:t>
            </a:r>
          </a:p>
          <a:p>
            <a:r>
              <a:rPr lang="en-US" dirty="0"/>
              <a:t>REFERENCES</a:t>
            </a:r>
          </a:p>
          <a:p>
            <a:pPr marL="0" indent="0">
              <a:buNone/>
            </a:pPr>
            <a:endParaRPr lang="en-US" dirty="0"/>
          </a:p>
        </p:txBody>
      </p:sp>
      <p:sp>
        <p:nvSpPr>
          <p:cNvPr id="5" name="Slide Number Placeholder 4">
            <a:extLst>
              <a:ext uri="{FF2B5EF4-FFF2-40B4-BE49-F238E27FC236}">
                <a16:creationId xmlns:a16="http://schemas.microsoft.com/office/drawing/2014/main" id="{DD28E662-723B-51E1-F866-AC07085D0A69}"/>
              </a:ext>
            </a:extLst>
          </p:cNvPr>
          <p:cNvSpPr>
            <a:spLocks noGrp="1"/>
          </p:cNvSpPr>
          <p:nvPr>
            <p:ph type="sldNum" sz="quarter" idx="12"/>
          </p:nvPr>
        </p:nvSpPr>
        <p:spPr/>
        <p:txBody>
          <a:bodyPr/>
          <a:lstStyle/>
          <a:p>
            <a:fld id="{20FD3C23-7D33-4985-8AE7-711D75D685E8}" type="slidenum">
              <a:rPr lang="en-IN" smtClean="0"/>
              <a:t>2</a:t>
            </a:fld>
            <a:endParaRPr lang="en-IN"/>
          </a:p>
        </p:txBody>
      </p:sp>
    </p:spTree>
    <p:extLst>
      <p:ext uri="{BB962C8B-B14F-4D97-AF65-F5344CB8AC3E}">
        <p14:creationId xmlns:p14="http://schemas.microsoft.com/office/powerpoint/2010/main" val="555256425"/>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314413-2C8B-7389-00D2-F9D609B638C5}"/>
              </a:ext>
            </a:extLst>
          </p:cNvPr>
          <p:cNvSpPr>
            <a:spLocks noGrp="1"/>
          </p:cNvSpPr>
          <p:nvPr>
            <p:ph type="title"/>
          </p:nvPr>
        </p:nvSpPr>
        <p:spPr/>
        <p:txBody>
          <a:bodyPr/>
          <a:lstStyle/>
          <a:p>
            <a:r>
              <a:rPr lang="en-US" dirty="0"/>
              <a:t>INTRODUCTION</a:t>
            </a:r>
            <a:endParaRPr lang="en-IN" dirty="0"/>
          </a:p>
        </p:txBody>
      </p:sp>
      <p:sp>
        <p:nvSpPr>
          <p:cNvPr id="3" name="Content Placeholder 2">
            <a:extLst>
              <a:ext uri="{FF2B5EF4-FFF2-40B4-BE49-F238E27FC236}">
                <a16:creationId xmlns:a16="http://schemas.microsoft.com/office/drawing/2014/main" id="{47D054CC-5D55-BAA2-CF3A-D6C980B86FE4}"/>
              </a:ext>
            </a:extLst>
          </p:cNvPr>
          <p:cNvSpPr>
            <a:spLocks noGrp="1"/>
          </p:cNvSpPr>
          <p:nvPr>
            <p:ph idx="1"/>
          </p:nvPr>
        </p:nvSpPr>
        <p:spPr/>
        <p:txBody>
          <a:bodyPr>
            <a:normAutofit fontScale="92500" lnSpcReduction="10000"/>
          </a:bodyPr>
          <a:lstStyle/>
          <a:p>
            <a:pPr algn="just"/>
            <a:r>
              <a:rPr lang="en-US" sz="2400" dirty="0">
                <a:latin typeface="Times New Roman" panose="02020603050405020304" pitchFamily="18" charset="0"/>
                <a:cs typeface="Times New Roman" panose="02020603050405020304" pitchFamily="18" charset="0"/>
              </a:rPr>
              <a:t>The agricultural significance of nations like India, where economies are closely tied to farming, underscores the </a:t>
            </a:r>
            <a:r>
              <a:rPr lang="en-US" sz="2400" dirty="0">
                <a:solidFill>
                  <a:srgbClr val="FF0000"/>
                </a:solidFill>
                <a:latin typeface="Times New Roman" panose="02020603050405020304" pitchFamily="18" charset="0"/>
                <a:cs typeface="Times New Roman" panose="02020603050405020304" pitchFamily="18" charset="0"/>
              </a:rPr>
              <a:t>importance of nurturing crops from their early stages to harvest</a:t>
            </a:r>
            <a:r>
              <a:rPr lang="en-US" sz="2400" dirty="0">
                <a:latin typeface="Times New Roman" panose="02020603050405020304" pitchFamily="18" charset="0"/>
                <a:cs typeface="Times New Roman" panose="02020603050405020304" pitchFamily="18" charset="0"/>
              </a:rPr>
              <a:t>. A substantial portion of India's population, particularly those in rural areas, depends on agriculture for their livelihoods.</a:t>
            </a:r>
          </a:p>
          <a:p>
            <a:pPr algn="just"/>
            <a:r>
              <a:rPr lang="en-US" sz="2400" dirty="0">
                <a:latin typeface="Times New Roman" panose="02020603050405020304" pitchFamily="18" charset="0"/>
                <a:cs typeface="Times New Roman" panose="02020603050405020304" pitchFamily="18" charset="0"/>
              </a:rPr>
              <a:t>Amidst the challenges faced by the agricultural sector, such as food security and nutrition concerns, the potato emerges as a vital crop due to its nutritional richness. However, the prevalence of potato infections, notably early and late blight, threatens crop health. To address these challenges, a novel approach employing </a:t>
            </a:r>
            <a:r>
              <a:rPr lang="en-US" sz="2400" dirty="0">
                <a:solidFill>
                  <a:srgbClr val="FF0000"/>
                </a:solidFill>
                <a:latin typeface="Times New Roman" panose="02020603050405020304" pitchFamily="18" charset="0"/>
                <a:cs typeface="Times New Roman" panose="02020603050405020304" pitchFamily="18" charset="0"/>
              </a:rPr>
              <a:t>Convolutional Neural Networks (CNN) for image classification is proposed</a:t>
            </a:r>
            <a:r>
              <a:rPr lang="en-US" sz="2400" dirty="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D62AEC94-54A4-02D9-3E6E-E3E310A0A962}"/>
              </a:ext>
            </a:extLst>
          </p:cNvPr>
          <p:cNvSpPr>
            <a:spLocks noGrp="1"/>
          </p:cNvSpPr>
          <p:nvPr>
            <p:ph type="sldNum" sz="quarter" idx="12"/>
          </p:nvPr>
        </p:nvSpPr>
        <p:spPr/>
        <p:txBody>
          <a:bodyPr/>
          <a:lstStyle/>
          <a:p>
            <a:fld id="{20FD3C23-7D33-4985-8AE7-711D75D685E8}" type="slidenum">
              <a:rPr lang="en-IN" smtClean="0"/>
              <a:t>3</a:t>
            </a:fld>
            <a:endParaRPr lang="en-IN"/>
          </a:p>
        </p:txBody>
      </p:sp>
    </p:spTree>
    <p:extLst>
      <p:ext uri="{BB962C8B-B14F-4D97-AF65-F5344CB8AC3E}">
        <p14:creationId xmlns:p14="http://schemas.microsoft.com/office/powerpoint/2010/main" val="860543100"/>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2DB2EF-F23D-82E8-AAFC-7203FA3662FC}"/>
              </a:ext>
            </a:extLst>
          </p:cNvPr>
          <p:cNvSpPr>
            <a:spLocks noGrp="1"/>
          </p:cNvSpPr>
          <p:nvPr>
            <p:ph type="title"/>
          </p:nvPr>
        </p:nvSpPr>
        <p:spPr/>
        <p:txBody>
          <a:bodyPr/>
          <a:lstStyle/>
          <a:p>
            <a:r>
              <a:rPr lang="en-US" dirty="0"/>
              <a:t>Continue…</a:t>
            </a:r>
            <a:endParaRPr lang="en-IN" dirty="0"/>
          </a:p>
        </p:txBody>
      </p:sp>
      <p:sp>
        <p:nvSpPr>
          <p:cNvPr id="3" name="Content Placeholder 2">
            <a:extLst>
              <a:ext uri="{FF2B5EF4-FFF2-40B4-BE49-F238E27FC236}">
                <a16:creationId xmlns:a16="http://schemas.microsoft.com/office/drawing/2014/main" id="{FCE683A1-2941-DDC7-FEB9-892E0A093BE2}"/>
              </a:ext>
            </a:extLst>
          </p:cNvPr>
          <p:cNvSpPr>
            <a:spLocks noGrp="1"/>
          </p:cNvSpPr>
          <p:nvPr>
            <p:ph idx="1"/>
          </p:nvPr>
        </p:nvSpPr>
        <p:spPr/>
        <p:txBody>
          <a:bodyPr>
            <a:normAutofit fontScale="85000" lnSpcReduction="10000"/>
          </a:bodyPr>
          <a:lstStyle/>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 This method aids in distinguishing between </a:t>
            </a:r>
            <a:r>
              <a:rPr lang="en-US" sz="2400" dirty="0">
                <a:solidFill>
                  <a:srgbClr val="FF0000"/>
                </a:solidFill>
                <a:latin typeface="Times New Roman" panose="02020603050405020304" pitchFamily="18" charset="0"/>
                <a:cs typeface="Times New Roman" panose="02020603050405020304" pitchFamily="18" charset="0"/>
              </a:rPr>
              <a:t>healthy, early blight, and late blight leaves</a:t>
            </a:r>
            <a:r>
              <a:rPr lang="en-US" sz="2400" dirty="0">
                <a:latin typeface="Times New Roman" panose="02020603050405020304" pitchFamily="18" charset="0"/>
                <a:cs typeface="Times New Roman" panose="02020603050405020304" pitchFamily="18" charset="0"/>
              </a:rPr>
              <a:t>, empowering farmers to promptly identify and manage plant diseases.</a:t>
            </a:r>
          </a:p>
          <a:p>
            <a:pPr algn="just"/>
            <a:r>
              <a:rPr lang="en-US" sz="2400" dirty="0">
                <a:latin typeface="Times New Roman" panose="02020603050405020304" pitchFamily="18" charset="0"/>
                <a:cs typeface="Times New Roman" panose="02020603050405020304" pitchFamily="18" charset="0"/>
              </a:rPr>
              <a:t>The research contributes by introducing innovative leaf extraction techniques, designing an optimal CNN model, and assembling a dataset encompassing various potato leaf infections. </a:t>
            </a:r>
          </a:p>
          <a:p>
            <a:pPr algn="just"/>
            <a:r>
              <a:rPr lang="en-US" sz="2400" dirty="0">
                <a:latin typeface="Times New Roman" panose="02020603050405020304" pitchFamily="18" charset="0"/>
                <a:cs typeface="Times New Roman" panose="02020603050405020304" pitchFamily="18" charset="0"/>
              </a:rPr>
              <a:t>Structured across several sections, the paper delves into the necessity of leveraging image processing and machine learning for plant disease identification, reviews prior research, outlines detection strategies, assesses potential impacts, and emphasizes the framework's foundational role in advancing plant disease research.</a:t>
            </a:r>
          </a:p>
        </p:txBody>
      </p:sp>
      <p:sp>
        <p:nvSpPr>
          <p:cNvPr id="5" name="Slide Number Placeholder 4">
            <a:extLst>
              <a:ext uri="{FF2B5EF4-FFF2-40B4-BE49-F238E27FC236}">
                <a16:creationId xmlns:a16="http://schemas.microsoft.com/office/drawing/2014/main" id="{D7F8BA7F-E84B-138F-E49D-DD437CBC27A2}"/>
              </a:ext>
            </a:extLst>
          </p:cNvPr>
          <p:cNvSpPr>
            <a:spLocks noGrp="1"/>
          </p:cNvSpPr>
          <p:nvPr>
            <p:ph type="sldNum" sz="quarter" idx="12"/>
          </p:nvPr>
        </p:nvSpPr>
        <p:spPr/>
        <p:txBody>
          <a:bodyPr/>
          <a:lstStyle/>
          <a:p>
            <a:fld id="{20FD3C23-7D33-4985-8AE7-711D75D685E8}" type="slidenum">
              <a:rPr lang="en-IN" smtClean="0"/>
              <a:t>4</a:t>
            </a:fld>
            <a:endParaRPr lang="en-IN"/>
          </a:p>
        </p:txBody>
      </p:sp>
    </p:spTree>
    <p:extLst>
      <p:ext uri="{BB962C8B-B14F-4D97-AF65-F5344CB8AC3E}">
        <p14:creationId xmlns:p14="http://schemas.microsoft.com/office/powerpoint/2010/main" val="2551328916"/>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1542E2-E089-2F41-3966-C8459C8CC9DF}"/>
              </a:ext>
            </a:extLst>
          </p:cNvPr>
          <p:cNvSpPr>
            <a:spLocks noGrp="1"/>
          </p:cNvSpPr>
          <p:nvPr>
            <p:ph type="title"/>
          </p:nvPr>
        </p:nvSpPr>
        <p:spPr/>
        <p:txBody>
          <a:bodyPr/>
          <a:lstStyle/>
          <a:p>
            <a:r>
              <a:rPr lang="en-US" dirty="0"/>
              <a:t>LITERATURE SURVEY</a:t>
            </a:r>
            <a:endParaRPr lang="en-IN" dirty="0"/>
          </a:p>
        </p:txBody>
      </p:sp>
      <p:graphicFrame>
        <p:nvGraphicFramePr>
          <p:cNvPr id="9" name="Table 9">
            <a:extLst>
              <a:ext uri="{FF2B5EF4-FFF2-40B4-BE49-F238E27FC236}">
                <a16:creationId xmlns:a16="http://schemas.microsoft.com/office/drawing/2014/main" id="{91FD06AB-A7D3-F6C4-1037-8F628AEE14A6}"/>
              </a:ext>
            </a:extLst>
          </p:cNvPr>
          <p:cNvGraphicFramePr>
            <a:graphicFrameLocks noGrp="1"/>
          </p:cNvGraphicFramePr>
          <p:nvPr>
            <p:ph idx="1"/>
            <p:extLst>
              <p:ext uri="{D42A27DB-BD31-4B8C-83A1-F6EECF244321}">
                <p14:modId xmlns:p14="http://schemas.microsoft.com/office/powerpoint/2010/main" val="526969117"/>
              </p:ext>
            </p:extLst>
          </p:nvPr>
        </p:nvGraphicFramePr>
        <p:xfrm>
          <a:off x="2062066" y="2034074"/>
          <a:ext cx="8957388" cy="4203623"/>
        </p:xfrm>
        <a:graphic>
          <a:graphicData uri="http://schemas.openxmlformats.org/drawingml/2006/table">
            <a:tbl>
              <a:tblPr firstRow="1" bandRow="1">
                <a:tableStyleId>{5C22544A-7EE6-4342-B048-85BDC9FD1C3A}</a:tableStyleId>
              </a:tblPr>
              <a:tblGrid>
                <a:gridCol w="2985796">
                  <a:extLst>
                    <a:ext uri="{9D8B030D-6E8A-4147-A177-3AD203B41FA5}">
                      <a16:colId xmlns:a16="http://schemas.microsoft.com/office/drawing/2014/main" val="618086531"/>
                    </a:ext>
                  </a:extLst>
                </a:gridCol>
                <a:gridCol w="2985796">
                  <a:extLst>
                    <a:ext uri="{9D8B030D-6E8A-4147-A177-3AD203B41FA5}">
                      <a16:colId xmlns:a16="http://schemas.microsoft.com/office/drawing/2014/main" val="3523614189"/>
                    </a:ext>
                  </a:extLst>
                </a:gridCol>
                <a:gridCol w="2985796">
                  <a:extLst>
                    <a:ext uri="{9D8B030D-6E8A-4147-A177-3AD203B41FA5}">
                      <a16:colId xmlns:a16="http://schemas.microsoft.com/office/drawing/2014/main" val="1570756367"/>
                    </a:ext>
                  </a:extLst>
                </a:gridCol>
              </a:tblGrid>
              <a:tr h="357278">
                <a:tc>
                  <a:txBody>
                    <a:bodyPr/>
                    <a:lstStyle/>
                    <a:p>
                      <a:r>
                        <a:rPr lang="en-US" sz="1800" dirty="0">
                          <a:latin typeface="Times New Roman" panose="02020603050405020304" pitchFamily="18" charset="0"/>
                          <a:cs typeface="Times New Roman" panose="02020603050405020304" pitchFamily="18" charset="0"/>
                        </a:rPr>
                        <a:t>TITLE</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US" sz="1800" dirty="0">
                          <a:latin typeface="Times New Roman" panose="02020603050405020304" pitchFamily="18" charset="0"/>
                          <a:cs typeface="Times New Roman" panose="02020603050405020304" pitchFamily="18" charset="0"/>
                        </a:rPr>
                        <a:t>AUTHOR</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US" sz="1800" dirty="0">
                          <a:latin typeface="Times New Roman" panose="02020603050405020304" pitchFamily="18" charset="0"/>
                          <a:cs typeface="Times New Roman" panose="02020603050405020304" pitchFamily="18" charset="0"/>
                        </a:rPr>
                        <a:t>DESCRIPTION</a:t>
                      </a: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106885165"/>
                  </a:ext>
                </a:extLst>
              </a:tr>
              <a:tr h="922970">
                <a:tc>
                  <a:txBody>
                    <a:bodyPr/>
                    <a:lstStyle/>
                    <a:p>
                      <a:pPr algn="just"/>
                      <a:r>
                        <a:rPr lang="en-US" sz="1400" kern="1200" dirty="0">
                          <a:solidFill>
                            <a:schemeClr val="dk1"/>
                          </a:solidFill>
                          <a:effectLst/>
                          <a:latin typeface="Times New Roman" panose="02020603050405020304" pitchFamily="18" charset="0"/>
                          <a:ea typeface="+mn-ea"/>
                          <a:cs typeface="Times New Roman" panose="02020603050405020304" pitchFamily="18" charset="0"/>
                        </a:rPr>
                        <a:t>Severity identification of Potato Late Blight disease from crop images captured under uncontrolled environment</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US" sz="1400" kern="1200" dirty="0">
                          <a:solidFill>
                            <a:schemeClr val="dk1"/>
                          </a:solidFill>
                          <a:effectLst/>
                          <a:latin typeface="+mn-lt"/>
                          <a:ea typeface="+mn-ea"/>
                          <a:cs typeface="+mn-cs"/>
                        </a:rPr>
                        <a:t>S. Biswas, B. </a:t>
                      </a:r>
                      <a:r>
                        <a:rPr lang="en-US" sz="1400" kern="1200" dirty="0" err="1">
                          <a:solidFill>
                            <a:schemeClr val="dk1"/>
                          </a:solidFill>
                          <a:effectLst/>
                          <a:latin typeface="+mn-lt"/>
                          <a:ea typeface="+mn-ea"/>
                          <a:cs typeface="+mn-cs"/>
                        </a:rPr>
                        <a:t>Jagyasi</a:t>
                      </a:r>
                      <a:r>
                        <a:rPr lang="en-US" sz="1400" kern="1200" dirty="0">
                          <a:solidFill>
                            <a:schemeClr val="dk1"/>
                          </a:solidFill>
                          <a:effectLst/>
                          <a:latin typeface="+mn-lt"/>
                          <a:ea typeface="+mn-ea"/>
                          <a:cs typeface="+mn-cs"/>
                        </a:rPr>
                        <a:t>, B. P. Singh and M. Lal</a:t>
                      </a:r>
                      <a:endParaRPr lang="en-IN" sz="1400" dirty="0">
                        <a:latin typeface="Times New Roman" panose="02020603050405020304" pitchFamily="18" charset="0"/>
                        <a:cs typeface="Times New Roman" panose="02020603050405020304" pitchFamily="18" charset="0"/>
                      </a:endParaRPr>
                    </a:p>
                  </a:txBody>
                  <a:tcPr/>
                </a:tc>
                <a:tc>
                  <a:txBody>
                    <a:bodyPr/>
                    <a:lstStyle/>
                    <a:p>
                      <a:pPr algn="just"/>
                      <a:r>
                        <a:rPr lang="en-US" sz="1400" dirty="0">
                          <a:latin typeface="Times New Roman" panose="02020603050405020304" pitchFamily="18" charset="0"/>
                          <a:cs typeface="Times New Roman" panose="02020603050405020304" pitchFamily="18" charset="0"/>
                        </a:rPr>
                        <a:t>This paper enhances the use of Fluffy C-mean Clustering for potato late blight detection with an accuracy of 93%  over 27 images dataset.</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303239878"/>
                  </a:ext>
                </a:extLst>
              </a:tr>
              <a:tr h="972139">
                <a:tc>
                  <a:txBody>
                    <a:bodyPr/>
                    <a:lstStyle/>
                    <a:p>
                      <a:r>
                        <a:rPr lang="en-US" sz="1400" dirty="0">
                          <a:latin typeface="Times New Roman" panose="02020603050405020304" pitchFamily="18" charset="0"/>
                          <a:cs typeface="Times New Roman" panose="02020603050405020304" pitchFamily="18" charset="0"/>
                        </a:rPr>
                        <a:t>Detection of Potato Disease Using Image Segmentation and Machine Learning</a:t>
                      </a:r>
                      <a:endParaRPr lang="en-IN" sz="1400" dirty="0">
                        <a:latin typeface="Times New Roman" panose="02020603050405020304" pitchFamily="18" charset="0"/>
                        <a:cs typeface="Times New Roman" panose="02020603050405020304" pitchFamily="18" charset="0"/>
                      </a:endParaRPr>
                    </a:p>
                  </a:txBody>
                  <a:tcPr/>
                </a:tc>
                <a:tc>
                  <a:txBody>
                    <a:bodyPr/>
                    <a:lstStyle/>
                    <a:p>
                      <a:pPr algn="just"/>
                      <a:r>
                        <a:rPr lang="en-US" sz="1400" dirty="0">
                          <a:latin typeface="Times New Roman" panose="02020603050405020304" pitchFamily="18" charset="0"/>
                          <a:cs typeface="Times New Roman" panose="02020603050405020304" pitchFamily="18" charset="0"/>
                        </a:rPr>
                        <a:t>M. A. Iqbal and K. H. </a:t>
                      </a:r>
                      <a:r>
                        <a:rPr lang="en-US" sz="1400" dirty="0" err="1">
                          <a:latin typeface="Times New Roman" panose="02020603050405020304" pitchFamily="18" charset="0"/>
                          <a:cs typeface="Times New Roman" panose="02020603050405020304" pitchFamily="18" charset="0"/>
                        </a:rPr>
                        <a:t>Talukder</a:t>
                      </a:r>
                      <a:endParaRPr lang="en-IN" sz="1400" dirty="0">
                        <a:latin typeface="Times New Roman" panose="02020603050405020304" pitchFamily="18" charset="0"/>
                        <a:cs typeface="Times New Roman" panose="02020603050405020304" pitchFamily="18" charset="0"/>
                      </a:endParaRPr>
                    </a:p>
                  </a:txBody>
                  <a:tcPr/>
                </a:tc>
                <a:tc>
                  <a:txBody>
                    <a:bodyPr/>
                    <a:lstStyle/>
                    <a:p>
                      <a:pPr algn="just"/>
                      <a:r>
                        <a:rPr lang="en-US" sz="1400" dirty="0">
                          <a:latin typeface="Times New Roman" panose="02020603050405020304" pitchFamily="18" charset="0"/>
                          <a:cs typeface="Times New Roman" panose="02020603050405020304" pitchFamily="18" charset="0"/>
                        </a:rPr>
                        <a:t>This paper enhances the uses of Random Forest Classifiers for Early and Late Blight Detection with an accuracy of 97%  over 450 images dataset.</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701129676"/>
                  </a:ext>
                </a:extLst>
              </a:tr>
              <a:tr h="867276">
                <a:tc>
                  <a:txBody>
                    <a:bodyPr/>
                    <a:lstStyle/>
                    <a:p>
                      <a:pPr algn="just"/>
                      <a:r>
                        <a:rPr lang="en-US" sz="1400" dirty="0">
                          <a:latin typeface="Times New Roman" panose="02020603050405020304" pitchFamily="18" charset="0"/>
                          <a:cs typeface="Times New Roman" panose="02020603050405020304" pitchFamily="18" charset="0"/>
                        </a:rPr>
                        <a:t>Detection of potato diseases using image segmentation and multiclass support vector machine</a:t>
                      </a:r>
                      <a:endParaRPr lang="en-IN" sz="1400" dirty="0">
                        <a:latin typeface="Times New Roman" panose="02020603050405020304" pitchFamily="18" charset="0"/>
                        <a:cs typeface="Times New Roman" panose="02020603050405020304" pitchFamily="18" charset="0"/>
                      </a:endParaRPr>
                    </a:p>
                  </a:txBody>
                  <a:tcPr/>
                </a:tc>
                <a:tc>
                  <a:txBody>
                    <a:bodyPr/>
                    <a:lstStyle/>
                    <a:p>
                      <a:pPr algn="just"/>
                      <a:r>
                        <a:rPr lang="en-US" sz="1400" dirty="0">
                          <a:latin typeface="Times New Roman" panose="02020603050405020304" pitchFamily="18" charset="0"/>
                          <a:cs typeface="Times New Roman" panose="02020603050405020304" pitchFamily="18" charset="0"/>
                        </a:rPr>
                        <a:t>M.  Islam, A.  Dinh,  K.  Wahid,  and P.  Bhowmik</a:t>
                      </a:r>
                      <a:endParaRPr lang="en-IN" sz="1400" dirty="0">
                        <a:latin typeface="Times New Roman" panose="02020603050405020304" pitchFamily="18" charset="0"/>
                        <a:cs typeface="Times New Roman" panose="02020603050405020304" pitchFamily="18" charset="0"/>
                      </a:endParaRPr>
                    </a:p>
                  </a:txBody>
                  <a:tcPr/>
                </a:tc>
                <a:tc>
                  <a:txBody>
                    <a:bodyPr/>
                    <a:lstStyle/>
                    <a:p>
                      <a:pPr algn="just"/>
                      <a:r>
                        <a:rPr lang="en-US" sz="1400" dirty="0">
                          <a:latin typeface="Times New Roman" panose="02020603050405020304" pitchFamily="18" charset="0"/>
                          <a:cs typeface="Times New Roman" panose="02020603050405020304" pitchFamily="18" charset="0"/>
                        </a:rPr>
                        <a:t>This paper enhances the use of the Support vector machine model with an accuracy of 95% over 300 images dataset.</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14818270"/>
                  </a:ext>
                </a:extLst>
              </a:tr>
              <a:tr h="789863">
                <a:tc>
                  <a:txBody>
                    <a:bodyPr/>
                    <a:lstStyle/>
                    <a:p>
                      <a:pPr algn="just"/>
                      <a:r>
                        <a:rPr lang="en-US" sz="1400" dirty="0">
                          <a:latin typeface="Times New Roman" panose="02020603050405020304" pitchFamily="18" charset="0"/>
                          <a:cs typeface="Times New Roman" panose="02020603050405020304" pitchFamily="18" charset="0"/>
                        </a:rPr>
                        <a:t>A survey on detection and classification of rice plant diseases</a:t>
                      </a:r>
                      <a:endParaRPr lang="en-IN" sz="1400" dirty="0">
                        <a:latin typeface="Times New Roman" panose="02020603050405020304" pitchFamily="18" charset="0"/>
                        <a:cs typeface="Times New Roman" panose="02020603050405020304" pitchFamily="18" charset="0"/>
                      </a:endParaRPr>
                    </a:p>
                  </a:txBody>
                  <a:tcPr/>
                </a:tc>
                <a:tc>
                  <a:txBody>
                    <a:bodyPr/>
                    <a:lstStyle/>
                    <a:p>
                      <a:pPr algn="just"/>
                      <a:r>
                        <a:rPr lang="en-US" sz="1400" dirty="0">
                          <a:latin typeface="Times New Roman" panose="02020603050405020304" pitchFamily="18" charset="0"/>
                          <a:cs typeface="Times New Roman" panose="02020603050405020304" pitchFamily="18" charset="0"/>
                        </a:rPr>
                        <a:t>J. P. Shah, H. B. Prajapati, and V. K. Dabhi</a:t>
                      </a:r>
                      <a:endParaRPr lang="en-IN" sz="1400" dirty="0">
                        <a:latin typeface="Times New Roman" panose="02020603050405020304" pitchFamily="18" charset="0"/>
                        <a:cs typeface="Times New Roman" panose="02020603050405020304" pitchFamily="18" charset="0"/>
                      </a:endParaRPr>
                    </a:p>
                  </a:txBody>
                  <a:tcPr/>
                </a:tc>
                <a:tc>
                  <a:txBody>
                    <a:bodyPr/>
                    <a:lstStyle/>
                    <a:p>
                      <a:pPr algn="just"/>
                      <a:r>
                        <a:rPr lang="en-US" sz="1400" dirty="0">
                          <a:latin typeface="Times New Roman" panose="02020603050405020304" pitchFamily="18" charset="0"/>
                          <a:cs typeface="Times New Roman" panose="02020603050405020304" pitchFamily="18" charset="0"/>
                        </a:rPr>
                        <a:t>This is a survey paper where 19 papers were taken into consideration covering the detection of rice plant disease.</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220146294"/>
                  </a:ext>
                </a:extLst>
              </a:tr>
            </a:tbl>
          </a:graphicData>
        </a:graphic>
      </p:graphicFrame>
      <p:sp>
        <p:nvSpPr>
          <p:cNvPr id="4" name="Slide Number Placeholder 3">
            <a:extLst>
              <a:ext uri="{FF2B5EF4-FFF2-40B4-BE49-F238E27FC236}">
                <a16:creationId xmlns:a16="http://schemas.microsoft.com/office/drawing/2014/main" id="{7CCFBA53-52AD-8462-D3A1-49228A2EE3D4}"/>
              </a:ext>
            </a:extLst>
          </p:cNvPr>
          <p:cNvSpPr>
            <a:spLocks noGrp="1"/>
          </p:cNvSpPr>
          <p:nvPr>
            <p:ph type="sldNum" sz="quarter" idx="12"/>
          </p:nvPr>
        </p:nvSpPr>
        <p:spPr/>
        <p:txBody>
          <a:bodyPr/>
          <a:lstStyle/>
          <a:p>
            <a:fld id="{20FD3C23-7D33-4985-8AE7-711D75D685E8}" type="slidenum">
              <a:rPr lang="en-IN" smtClean="0"/>
              <a:t>5</a:t>
            </a:fld>
            <a:endParaRPr lang="en-IN"/>
          </a:p>
        </p:txBody>
      </p:sp>
    </p:spTree>
    <p:extLst>
      <p:ext uri="{BB962C8B-B14F-4D97-AF65-F5344CB8AC3E}">
        <p14:creationId xmlns:p14="http://schemas.microsoft.com/office/powerpoint/2010/main" val="842189605"/>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977757-4079-ACDA-1F89-4A240488117D}"/>
              </a:ext>
            </a:extLst>
          </p:cNvPr>
          <p:cNvSpPr>
            <a:spLocks noGrp="1"/>
          </p:cNvSpPr>
          <p:nvPr>
            <p:ph type="title"/>
          </p:nvPr>
        </p:nvSpPr>
        <p:spPr/>
        <p:txBody>
          <a:bodyPr/>
          <a:lstStyle/>
          <a:p>
            <a:r>
              <a:rPr lang="en-US" dirty="0"/>
              <a:t>Methodology</a:t>
            </a:r>
            <a:endParaRPr lang="en-IN" dirty="0"/>
          </a:p>
        </p:txBody>
      </p:sp>
      <p:sp>
        <p:nvSpPr>
          <p:cNvPr id="6" name="Content Placeholder 5">
            <a:extLst>
              <a:ext uri="{FF2B5EF4-FFF2-40B4-BE49-F238E27FC236}">
                <a16:creationId xmlns:a16="http://schemas.microsoft.com/office/drawing/2014/main" id="{9948BFBF-20CA-F483-ADD1-6CE25CB3F1E9}"/>
              </a:ext>
            </a:extLst>
          </p:cNvPr>
          <p:cNvSpPr>
            <a:spLocks noGrp="1"/>
          </p:cNvSpPr>
          <p:nvPr>
            <p:ph idx="1"/>
          </p:nvPr>
        </p:nvSpPr>
        <p:spPr/>
        <p:txBody>
          <a:bodyPr/>
          <a:lstStyle/>
          <a:p>
            <a:pPr>
              <a:buFont typeface="Wingdings" panose="05000000000000000000" pitchFamily="2" charset="2"/>
              <a:buChar char="q"/>
            </a:pPr>
            <a:r>
              <a:rPr lang="en-US" dirty="0"/>
              <a:t>Proposed Framework</a:t>
            </a:r>
          </a:p>
          <a:p>
            <a:endParaRPr lang="en-IN" dirty="0"/>
          </a:p>
        </p:txBody>
      </p:sp>
      <p:pic>
        <p:nvPicPr>
          <p:cNvPr id="7" name="Picture 6">
            <a:extLst>
              <a:ext uri="{FF2B5EF4-FFF2-40B4-BE49-F238E27FC236}">
                <a16:creationId xmlns:a16="http://schemas.microsoft.com/office/drawing/2014/main" id="{5F1237BA-757D-FC73-CA52-7CC446D19E5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06751" y="2680995"/>
            <a:ext cx="3526971" cy="3029340"/>
          </a:xfrm>
          <a:prstGeom prst="rect">
            <a:avLst/>
          </a:prstGeom>
        </p:spPr>
      </p:pic>
      <p:sp>
        <p:nvSpPr>
          <p:cNvPr id="4" name="Slide Number Placeholder 3">
            <a:extLst>
              <a:ext uri="{FF2B5EF4-FFF2-40B4-BE49-F238E27FC236}">
                <a16:creationId xmlns:a16="http://schemas.microsoft.com/office/drawing/2014/main" id="{076F0E36-FA2E-5445-6D93-53A376B30E0C}"/>
              </a:ext>
            </a:extLst>
          </p:cNvPr>
          <p:cNvSpPr>
            <a:spLocks noGrp="1"/>
          </p:cNvSpPr>
          <p:nvPr>
            <p:ph type="sldNum" sz="quarter" idx="12"/>
          </p:nvPr>
        </p:nvSpPr>
        <p:spPr/>
        <p:txBody>
          <a:bodyPr/>
          <a:lstStyle/>
          <a:p>
            <a:fld id="{20FD3C23-7D33-4985-8AE7-711D75D685E8}" type="slidenum">
              <a:rPr lang="en-IN" smtClean="0"/>
              <a:t>6</a:t>
            </a:fld>
            <a:endParaRPr lang="en-IN"/>
          </a:p>
        </p:txBody>
      </p:sp>
    </p:spTree>
    <p:extLst>
      <p:ext uri="{BB962C8B-B14F-4D97-AF65-F5344CB8AC3E}">
        <p14:creationId xmlns:p14="http://schemas.microsoft.com/office/powerpoint/2010/main" val="4180549974"/>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014DC58-E111-BBB0-0B5C-CECC5D2D73B2}"/>
              </a:ext>
            </a:extLst>
          </p:cNvPr>
          <p:cNvSpPr>
            <a:spLocks noGrp="1"/>
          </p:cNvSpPr>
          <p:nvPr>
            <p:ph idx="1"/>
          </p:nvPr>
        </p:nvSpPr>
        <p:spPr>
          <a:xfrm>
            <a:off x="1968758" y="1931437"/>
            <a:ext cx="9535853" cy="3979786"/>
          </a:xfrm>
        </p:spPr>
        <p:txBody>
          <a:bodyPr/>
          <a:lstStyle/>
          <a:p>
            <a:pPr marL="0" indent="0">
              <a:buNone/>
            </a:pPr>
            <a:r>
              <a:rPr lang="en-US" sz="2000" dirty="0">
                <a:latin typeface="Times New Roman" panose="02020603050405020304" pitchFamily="18" charset="0"/>
                <a:cs typeface="Times New Roman" panose="02020603050405020304" pitchFamily="18" charset="0"/>
              </a:rPr>
              <a:t>Data Collection                                                                     Data  Preprocessing                        </a:t>
            </a:r>
            <a:endParaRPr lang="en-US" dirty="0">
              <a:latin typeface="Times New Roman" panose="02020603050405020304" pitchFamily="18" charset="0"/>
              <a:cs typeface="Times New Roman" panose="02020603050405020304" pitchFamily="18" charset="0"/>
            </a:endParaRPr>
          </a:p>
          <a:p>
            <a:endParaRPr lang="en-IN" dirty="0"/>
          </a:p>
          <a:p>
            <a:pPr marL="0" indent="0">
              <a:buNone/>
            </a:pPr>
            <a:endParaRPr lang="en-IN" dirty="0"/>
          </a:p>
          <a:p>
            <a:pPr marL="0" indent="0">
              <a:buNone/>
            </a:pPr>
            <a:endParaRPr lang="en-IN" sz="2000" dirty="0">
              <a:latin typeface="Times New Roman" panose="02020603050405020304" pitchFamily="18" charset="0"/>
              <a:cs typeface="Times New Roman" panose="02020603050405020304" pitchFamily="18" charset="0"/>
            </a:endParaRPr>
          </a:p>
          <a:p>
            <a:pPr marL="0" indent="0">
              <a:buNone/>
            </a:pPr>
            <a:endParaRPr lang="en-IN" sz="2000" dirty="0">
              <a:latin typeface="Times New Roman" panose="02020603050405020304" pitchFamily="18" charset="0"/>
              <a:cs typeface="Times New Roman" panose="02020603050405020304" pitchFamily="18" charset="0"/>
            </a:endParaRPr>
          </a:p>
          <a:p>
            <a:pPr marL="0" indent="0">
              <a:buNone/>
            </a:pPr>
            <a:r>
              <a:rPr lang="en-IN" sz="2000" dirty="0">
                <a:latin typeface="Times New Roman" panose="02020603050405020304" pitchFamily="18" charset="0"/>
                <a:cs typeface="Times New Roman" panose="02020603050405020304" pitchFamily="18" charset="0"/>
              </a:rPr>
              <a:t>Image Classification                                                                                          </a:t>
            </a:r>
          </a:p>
          <a:p>
            <a:endParaRPr lang="en-IN" sz="2000" dirty="0">
              <a:latin typeface="Times New Roman" panose="02020603050405020304" pitchFamily="18" charset="0"/>
              <a:cs typeface="Times New Roman" panose="02020603050405020304" pitchFamily="18" charset="0"/>
            </a:endParaRPr>
          </a:p>
        </p:txBody>
      </p:sp>
      <p:graphicFrame>
        <p:nvGraphicFramePr>
          <p:cNvPr id="9" name="Table 8">
            <a:extLst>
              <a:ext uri="{FF2B5EF4-FFF2-40B4-BE49-F238E27FC236}">
                <a16:creationId xmlns:a16="http://schemas.microsoft.com/office/drawing/2014/main" id="{74E932BC-330F-CB50-8E76-2740102E58E5}"/>
              </a:ext>
            </a:extLst>
          </p:cNvPr>
          <p:cNvGraphicFramePr>
            <a:graphicFrameLocks noGrp="1"/>
          </p:cNvGraphicFramePr>
          <p:nvPr>
            <p:extLst>
              <p:ext uri="{D42A27DB-BD31-4B8C-83A1-F6EECF244321}">
                <p14:modId xmlns:p14="http://schemas.microsoft.com/office/powerpoint/2010/main" val="1716799317"/>
              </p:ext>
            </p:extLst>
          </p:nvPr>
        </p:nvGraphicFramePr>
        <p:xfrm>
          <a:off x="7948146" y="2716820"/>
          <a:ext cx="2797810" cy="1047209"/>
        </p:xfrm>
        <a:graphic>
          <a:graphicData uri="http://schemas.openxmlformats.org/drawingml/2006/table">
            <a:tbl>
              <a:tblPr>
                <a:tableStyleId>{5C22544A-7EE6-4342-B048-85BDC9FD1C3A}</a:tableStyleId>
              </a:tblPr>
              <a:tblGrid>
                <a:gridCol w="1390015">
                  <a:extLst>
                    <a:ext uri="{9D8B030D-6E8A-4147-A177-3AD203B41FA5}">
                      <a16:colId xmlns:a16="http://schemas.microsoft.com/office/drawing/2014/main" val="2863791101"/>
                    </a:ext>
                  </a:extLst>
                </a:gridCol>
                <a:gridCol w="742950">
                  <a:extLst>
                    <a:ext uri="{9D8B030D-6E8A-4147-A177-3AD203B41FA5}">
                      <a16:colId xmlns:a16="http://schemas.microsoft.com/office/drawing/2014/main" val="1742194273"/>
                    </a:ext>
                  </a:extLst>
                </a:gridCol>
                <a:gridCol w="664845">
                  <a:extLst>
                    <a:ext uri="{9D8B030D-6E8A-4147-A177-3AD203B41FA5}">
                      <a16:colId xmlns:a16="http://schemas.microsoft.com/office/drawing/2014/main" val="1096115963"/>
                    </a:ext>
                  </a:extLst>
                </a:gridCol>
              </a:tblGrid>
              <a:tr h="126375">
                <a:tc rowSpan="2">
                  <a:txBody>
                    <a:bodyPr/>
                    <a:lstStyle/>
                    <a:p>
                      <a:pPr indent="144145" algn="l" hangingPunct="0">
                        <a:lnSpc>
                          <a:spcPts val="1200"/>
                        </a:lnSpc>
                      </a:pPr>
                      <a:r>
                        <a:rPr lang="en-US" sz="900" dirty="0">
                          <a:effectLst/>
                        </a:rPr>
                        <a:t>Dataset</a:t>
                      </a:r>
                      <a:endParaRPr lang="en-IN" sz="1000" dirty="0">
                        <a:effectLst/>
                        <a:latin typeface="Times New Roman" panose="02020603050405020304" pitchFamily="18" charset="0"/>
                        <a:ea typeface="Times New Roman" panose="02020603050405020304" pitchFamily="18" charset="0"/>
                      </a:endParaRPr>
                    </a:p>
                  </a:txBody>
                  <a:tcPr marL="68580" marR="68580" marT="0" marB="0"/>
                </a:tc>
                <a:tc gridSpan="2">
                  <a:txBody>
                    <a:bodyPr/>
                    <a:lstStyle/>
                    <a:p>
                      <a:pPr indent="144145" algn="l" hangingPunct="0">
                        <a:lnSpc>
                          <a:spcPts val="1200"/>
                        </a:lnSpc>
                      </a:pPr>
                      <a:r>
                        <a:rPr lang="en-US" sz="900" dirty="0">
                          <a:effectLst/>
                        </a:rPr>
                        <a:t>80:20</a:t>
                      </a:r>
                      <a:endParaRPr lang="en-IN" sz="1000" dirty="0">
                        <a:effectLst/>
                        <a:latin typeface="Times New Roman" panose="02020603050405020304" pitchFamily="18" charset="0"/>
                        <a:ea typeface="Times New Roman" panose="02020603050405020304" pitchFamily="18" charset="0"/>
                      </a:endParaRPr>
                    </a:p>
                  </a:txBody>
                  <a:tcPr marL="68580" marR="68580" marT="0" marB="0"/>
                </a:tc>
                <a:tc hMerge="1">
                  <a:txBody>
                    <a:bodyPr/>
                    <a:lstStyle/>
                    <a:p>
                      <a:endParaRPr lang="en-IN"/>
                    </a:p>
                  </a:txBody>
                  <a:tcPr/>
                </a:tc>
                <a:extLst>
                  <a:ext uri="{0D108BD9-81ED-4DB2-BD59-A6C34878D82A}">
                    <a16:rowId xmlns:a16="http://schemas.microsoft.com/office/drawing/2014/main" val="2555705539"/>
                  </a:ext>
                </a:extLst>
              </a:tr>
              <a:tr h="149060">
                <a:tc vMerge="1">
                  <a:txBody>
                    <a:bodyPr/>
                    <a:lstStyle/>
                    <a:p>
                      <a:endParaRPr lang="en-IN"/>
                    </a:p>
                  </a:txBody>
                  <a:tcPr/>
                </a:tc>
                <a:tc>
                  <a:txBody>
                    <a:bodyPr/>
                    <a:lstStyle/>
                    <a:p>
                      <a:pPr indent="144145" algn="l" hangingPunct="0">
                        <a:lnSpc>
                          <a:spcPts val="1200"/>
                        </a:lnSpc>
                      </a:pPr>
                      <a:r>
                        <a:rPr lang="en-US" sz="900">
                          <a:effectLst/>
                        </a:rPr>
                        <a:t>Train</a:t>
                      </a:r>
                      <a:endParaRPr lang="en-IN" sz="1000">
                        <a:effectLst/>
                        <a:latin typeface="Times New Roman" panose="02020603050405020304" pitchFamily="18" charset="0"/>
                        <a:ea typeface="Times New Roman" panose="02020603050405020304" pitchFamily="18" charset="0"/>
                      </a:endParaRPr>
                    </a:p>
                  </a:txBody>
                  <a:tcPr marL="68580" marR="68580" marT="0" marB="0"/>
                </a:tc>
                <a:tc>
                  <a:txBody>
                    <a:bodyPr/>
                    <a:lstStyle/>
                    <a:p>
                      <a:pPr indent="144145" algn="l" hangingPunct="0">
                        <a:lnSpc>
                          <a:spcPts val="1200"/>
                        </a:lnSpc>
                      </a:pPr>
                      <a:r>
                        <a:rPr lang="en-US" sz="900">
                          <a:effectLst/>
                        </a:rPr>
                        <a:t>Test</a:t>
                      </a:r>
                      <a:endParaRPr lang="en-IN" sz="10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3996081216"/>
                  </a:ext>
                </a:extLst>
              </a:tr>
              <a:tr h="149060">
                <a:tc>
                  <a:txBody>
                    <a:bodyPr/>
                    <a:lstStyle/>
                    <a:p>
                      <a:pPr indent="144145" algn="l" hangingPunct="0">
                        <a:lnSpc>
                          <a:spcPts val="1200"/>
                        </a:lnSpc>
                      </a:pPr>
                      <a:r>
                        <a:rPr lang="en-US" sz="900" dirty="0">
                          <a:effectLst/>
                        </a:rPr>
                        <a:t>Early Blight</a:t>
                      </a:r>
                      <a:endParaRPr lang="en-IN" sz="10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indent="144145" algn="l" hangingPunct="0">
                        <a:lnSpc>
                          <a:spcPts val="1200"/>
                        </a:lnSpc>
                      </a:pPr>
                      <a:r>
                        <a:rPr lang="en-US" sz="900">
                          <a:effectLst/>
                        </a:rPr>
                        <a:t>800</a:t>
                      </a:r>
                      <a:endParaRPr lang="en-IN" sz="1000">
                        <a:effectLst/>
                        <a:latin typeface="Times New Roman" panose="02020603050405020304" pitchFamily="18" charset="0"/>
                        <a:ea typeface="Times New Roman" panose="02020603050405020304" pitchFamily="18" charset="0"/>
                      </a:endParaRPr>
                    </a:p>
                  </a:txBody>
                  <a:tcPr marL="68580" marR="68580" marT="0" marB="0"/>
                </a:tc>
                <a:tc>
                  <a:txBody>
                    <a:bodyPr/>
                    <a:lstStyle/>
                    <a:p>
                      <a:pPr indent="144145" algn="l" hangingPunct="0">
                        <a:lnSpc>
                          <a:spcPts val="1200"/>
                        </a:lnSpc>
                      </a:pPr>
                      <a:r>
                        <a:rPr lang="en-US" sz="900">
                          <a:effectLst/>
                        </a:rPr>
                        <a:t>200</a:t>
                      </a:r>
                      <a:endParaRPr lang="en-IN" sz="10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444477656"/>
                  </a:ext>
                </a:extLst>
              </a:tr>
              <a:tr h="149060">
                <a:tc>
                  <a:txBody>
                    <a:bodyPr/>
                    <a:lstStyle/>
                    <a:p>
                      <a:pPr indent="144145" algn="l" hangingPunct="0">
                        <a:lnSpc>
                          <a:spcPts val="1200"/>
                        </a:lnSpc>
                      </a:pPr>
                      <a:r>
                        <a:rPr lang="en-US" sz="900" dirty="0">
                          <a:effectLst/>
                        </a:rPr>
                        <a:t>Healthy Leaf</a:t>
                      </a:r>
                      <a:endParaRPr lang="en-IN" sz="10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indent="144145" algn="l" hangingPunct="0">
                        <a:lnSpc>
                          <a:spcPts val="1200"/>
                        </a:lnSpc>
                      </a:pPr>
                      <a:r>
                        <a:rPr lang="en-US" sz="900">
                          <a:effectLst/>
                        </a:rPr>
                        <a:t>120</a:t>
                      </a:r>
                      <a:endParaRPr lang="en-IN" sz="1000">
                        <a:effectLst/>
                        <a:latin typeface="Times New Roman" panose="02020603050405020304" pitchFamily="18" charset="0"/>
                        <a:ea typeface="Times New Roman" panose="02020603050405020304" pitchFamily="18" charset="0"/>
                      </a:endParaRPr>
                    </a:p>
                  </a:txBody>
                  <a:tcPr marL="68580" marR="68580" marT="0" marB="0"/>
                </a:tc>
                <a:tc>
                  <a:txBody>
                    <a:bodyPr/>
                    <a:lstStyle/>
                    <a:p>
                      <a:pPr indent="144145" algn="l" hangingPunct="0">
                        <a:lnSpc>
                          <a:spcPts val="1200"/>
                        </a:lnSpc>
                      </a:pPr>
                      <a:r>
                        <a:rPr lang="en-US" sz="900">
                          <a:effectLst/>
                        </a:rPr>
                        <a:t>32</a:t>
                      </a:r>
                      <a:endParaRPr lang="en-IN" sz="10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315285556"/>
                  </a:ext>
                </a:extLst>
              </a:tr>
              <a:tr h="185008">
                <a:tc>
                  <a:txBody>
                    <a:bodyPr/>
                    <a:lstStyle/>
                    <a:p>
                      <a:pPr indent="144145" algn="l" hangingPunct="0">
                        <a:lnSpc>
                          <a:spcPts val="1200"/>
                        </a:lnSpc>
                      </a:pPr>
                      <a:r>
                        <a:rPr lang="en-US" sz="900" dirty="0">
                          <a:effectLst/>
                        </a:rPr>
                        <a:t>Late Blight</a:t>
                      </a:r>
                      <a:endParaRPr lang="en-IN" sz="10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indent="144145" algn="l" hangingPunct="0">
                        <a:lnSpc>
                          <a:spcPts val="1200"/>
                        </a:lnSpc>
                      </a:pPr>
                      <a:r>
                        <a:rPr lang="en-US" sz="900">
                          <a:effectLst/>
                        </a:rPr>
                        <a:t>800</a:t>
                      </a:r>
                      <a:endParaRPr lang="en-IN" sz="1000">
                        <a:effectLst/>
                        <a:latin typeface="Times New Roman" panose="02020603050405020304" pitchFamily="18" charset="0"/>
                        <a:ea typeface="Times New Roman" panose="02020603050405020304" pitchFamily="18" charset="0"/>
                      </a:endParaRPr>
                    </a:p>
                  </a:txBody>
                  <a:tcPr marL="68580" marR="68580" marT="0" marB="0"/>
                </a:tc>
                <a:tc>
                  <a:txBody>
                    <a:bodyPr/>
                    <a:lstStyle/>
                    <a:p>
                      <a:pPr indent="144145" algn="l" hangingPunct="0">
                        <a:lnSpc>
                          <a:spcPts val="1200"/>
                        </a:lnSpc>
                      </a:pPr>
                      <a:r>
                        <a:rPr lang="en-US" sz="900">
                          <a:effectLst/>
                        </a:rPr>
                        <a:t>200</a:t>
                      </a:r>
                      <a:endParaRPr lang="en-IN" sz="10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08227548"/>
                  </a:ext>
                </a:extLst>
              </a:tr>
              <a:tr h="271257">
                <a:tc>
                  <a:txBody>
                    <a:bodyPr/>
                    <a:lstStyle/>
                    <a:p>
                      <a:pPr indent="144145" algn="l" hangingPunct="0">
                        <a:lnSpc>
                          <a:spcPts val="1200"/>
                        </a:lnSpc>
                      </a:pPr>
                      <a:r>
                        <a:rPr lang="en-US" sz="900">
                          <a:effectLst/>
                        </a:rPr>
                        <a:t>Total</a:t>
                      </a:r>
                      <a:endParaRPr lang="en-IN" sz="1000">
                        <a:effectLst/>
                        <a:latin typeface="Times New Roman" panose="02020603050405020304" pitchFamily="18" charset="0"/>
                        <a:ea typeface="Times New Roman" panose="02020603050405020304" pitchFamily="18" charset="0"/>
                      </a:endParaRPr>
                    </a:p>
                  </a:txBody>
                  <a:tcPr marL="68580" marR="68580" marT="0" marB="0"/>
                </a:tc>
                <a:tc>
                  <a:txBody>
                    <a:bodyPr/>
                    <a:lstStyle/>
                    <a:p>
                      <a:pPr indent="144145" algn="l" hangingPunct="0">
                        <a:lnSpc>
                          <a:spcPts val="1200"/>
                        </a:lnSpc>
                      </a:pPr>
                      <a:r>
                        <a:rPr lang="en-US" sz="900">
                          <a:effectLst/>
                        </a:rPr>
                        <a:t>1720</a:t>
                      </a:r>
                      <a:endParaRPr lang="en-IN" sz="1000">
                        <a:effectLst/>
                        <a:latin typeface="Times New Roman" panose="02020603050405020304" pitchFamily="18" charset="0"/>
                        <a:ea typeface="Times New Roman" panose="02020603050405020304" pitchFamily="18" charset="0"/>
                      </a:endParaRPr>
                    </a:p>
                  </a:txBody>
                  <a:tcPr marL="68580" marR="68580" marT="0" marB="0"/>
                </a:tc>
                <a:tc>
                  <a:txBody>
                    <a:bodyPr/>
                    <a:lstStyle/>
                    <a:p>
                      <a:pPr indent="144145" algn="l" hangingPunct="0">
                        <a:lnSpc>
                          <a:spcPts val="1200"/>
                        </a:lnSpc>
                      </a:pPr>
                      <a:r>
                        <a:rPr lang="en-US" sz="900" dirty="0">
                          <a:effectLst/>
                        </a:rPr>
                        <a:t>432</a:t>
                      </a:r>
                      <a:endParaRPr lang="en-IN" sz="10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2983593353"/>
                  </a:ext>
                </a:extLst>
              </a:tr>
            </a:tbl>
          </a:graphicData>
        </a:graphic>
      </p:graphicFrame>
      <p:graphicFrame>
        <p:nvGraphicFramePr>
          <p:cNvPr id="10" name="Table 9">
            <a:extLst>
              <a:ext uri="{FF2B5EF4-FFF2-40B4-BE49-F238E27FC236}">
                <a16:creationId xmlns:a16="http://schemas.microsoft.com/office/drawing/2014/main" id="{2AE54DF1-9B19-C37C-6274-F752D3A75CEF}"/>
              </a:ext>
            </a:extLst>
          </p:cNvPr>
          <p:cNvGraphicFramePr>
            <a:graphicFrameLocks noGrp="1"/>
          </p:cNvGraphicFramePr>
          <p:nvPr>
            <p:extLst>
              <p:ext uri="{D42A27DB-BD31-4B8C-83A1-F6EECF244321}">
                <p14:modId xmlns:p14="http://schemas.microsoft.com/office/powerpoint/2010/main" val="463685797"/>
              </p:ext>
            </p:extLst>
          </p:nvPr>
        </p:nvGraphicFramePr>
        <p:xfrm>
          <a:off x="1968758" y="2719842"/>
          <a:ext cx="3419002" cy="1044187"/>
        </p:xfrm>
        <a:graphic>
          <a:graphicData uri="http://schemas.openxmlformats.org/drawingml/2006/table">
            <a:tbl>
              <a:tblPr firstRow="1" firstCol="1" bandRow="1">
                <a:tableStyleId>{5C22544A-7EE6-4342-B048-85BDC9FD1C3A}</a:tableStyleId>
              </a:tblPr>
              <a:tblGrid>
                <a:gridCol w="1709501">
                  <a:extLst>
                    <a:ext uri="{9D8B030D-6E8A-4147-A177-3AD203B41FA5}">
                      <a16:colId xmlns:a16="http://schemas.microsoft.com/office/drawing/2014/main" val="2804305496"/>
                    </a:ext>
                  </a:extLst>
                </a:gridCol>
                <a:gridCol w="1709501">
                  <a:extLst>
                    <a:ext uri="{9D8B030D-6E8A-4147-A177-3AD203B41FA5}">
                      <a16:colId xmlns:a16="http://schemas.microsoft.com/office/drawing/2014/main" val="275444331"/>
                    </a:ext>
                  </a:extLst>
                </a:gridCol>
              </a:tblGrid>
              <a:tr h="210579">
                <a:tc>
                  <a:txBody>
                    <a:bodyPr/>
                    <a:lstStyle/>
                    <a:p>
                      <a:pPr indent="144145" algn="l" hangingPunct="0">
                        <a:lnSpc>
                          <a:spcPts val="1200"/>
                        </a:lnSpc>
                      </a:pPr>
                      <a:r>
                        <a:rPr lang="en-IN" sz="900" kern="100" dirty="0">
                          <a:effectLst/>
                        </a:rPr>
                        <a:t>Classes</a:t>
                      </a:r>
                      <a:endParaRPr lang="en-IN" sz="1000" kern="100" dirty="0">
                        <a:effectLst/>
                        <a:latin typeface="Times New Roman" panose="02020603050405020304" pitchFamily="18" charset="0"/>
                        <a:ea typeface="Times New Roman" panose="02020603050405020304" pitchFamily="18" charset="0"/>
                        <a:cs typeface="Shruti" panose="020B0502040204020203" pitchFamily="34" charset="0"/>
                      </a:endParaRPr>
                    </a:p>
                  </a:txBody>
                  <a:tcPr marL="68580" marR="68580" marT="0" marB="0"/>
                </a:tc>
                <a:tc>
                  <a:txBody>
                    <a:bodyPr/>
                    <a:lstStyle/>
                    <a:p>
                      <a:pPr indent="144145" algn="l" hangingPunct="0">
                        <a:lnSpc>
                          <a:spcPts val="1200"/>
                        </a:lnSpc>
                      </a:pPr>
                      <a:r>
                        <a:rPr lang="en-IN" sz="900" kern="100">
                          <a:effectLst/>
                        </a:rPr>
                        <a:t>No of Images</a:t>
                      </a:r>
                      <a:endParaRPr lang="en-IN" sz="1000" kern="100">
                        <a:effectLst/>
                        <a:latin typeface="Times New Roman" panose="02020603050405020304" pitchFamily="18" charset="0"/>
                        <a:ea typeface="Times New Roman" panose="02020603050405020304" pitchFamily="18" charset="0"/>
                        <a:cs typeface="Shruti" panose="020B0502040204020203" pitchFamily="34" charset="0"/>
                      </a:endParaRPr>
                    </a:p>
                  </a:txBody>
                  <a:tcPr marL="68580" marR="68580" marT="0" marB="0"/>
                </a:tc>
                <a:extLst>
                  <a:ext uri="{0D108BD9-81ED-4DB2-BD59-A6C34878D82A}">
                    <a16:rowId xmlns:a16="http://schemas.microsoft.com/office/drawing/2014/main" val="2853162672"/>
                  </a:ext>
                </a:extLst>
              </a:tr>
              <a:tr h="210579">
                <a:tc>
                  <a:txBody>
                    <a:bodyPr/>
                    <a:lstStyle/>
                    <a:p>
                      <a:pPr indent="144145" algn="l" hangingPunct="0">
                        <a:lnSpc>
                          <a:spcPts val="1200"/>
                        </a:lnSpc>
                      </a:pPr>
                      <a:r>
                        <a:rPr lang="en-IN" sz="900" kern="100" dirty="0">
                          <a:effectLst/>
                        </a:rPr>
                        <a:t>Early Blight</a:t>
                      </a:r>
                      <a:endParaRPr lang="en-IN" sz="1000" kern="100" dirty="0">
                        <a:effectLst/>
                        <a:latin typeface="Times New Roman" panose="02020603050405020304" pitchFamily="18" charset="0"/>
                        <a:ea typeface="Times New Roman" panose="02020603050405020304" pitchFamily="18" charset="0"/>
                        <a:cs typeface="Shruti" panose="020B0502040204020203" pitchFamily="34" charset="0"/>
                      </a:endParaRPr>
                    </a:p>
                  </a:txBody>
                  <a:tcPr marL="68580" marR="68580" marT="0" marB="0"/>
                </a:tc>
                <a:tc>
                  <a:txBody>
                    <a:bodyPr/>
                    <a:lstStyle/>
                    <a:p>
                      <a:pPr indent="144145" algn="l" hangingPunct="0">
                        <a:lnSpc>
                          <a:spcPts val="1200"/>
                        </a:lnSpc>
                      </a:pPr>
                      <a:r>
                        <a:rPr lang="en-IN" sz="900" kern="100" dirty="0">
                          <a:effectLst/>
                        </a:rPr>
                        <a:t>1000</a:t>
                      </a:r>
                      <a:endParaRPr lang="en-IN" sz="1000" kern="100" dirty="0">
                        <a:effectLst/>
                        <a:latin typeface="Times New Roman" panose="02020603050405020304" pitchFamily="18" charset="0"/>
                        <a:ea typeface="Times New Roman" panose="02020603050405020304" pitchFamily="18" charset="0"/>
                        <a:cs typeface="Shruti" panose="020B0502040204020203" pitchFamily="34" charset="0"/>
                      </a:endParaRPr>
                    </a:p>
                  </a:txBody>
                  <a:tcPr marL="68580" marR="68580" marT="0" marB="0"/>
                </a:tc>
                <a:extLst>
                  <a:ext uri="{0D108BD9-81ED-4DB2-BD59-A6C34878D82A}">
                    <a16:rowId xmlns:a16="http://schemas.microsoft.com/office/drawing/2014/main" val="4010263353"/>
                  </a:ext>
                </a:extLst>
              </a:tr>
              <a:tr h="201871">
                <a:tc>
                  <a:txBody>
                    <a:bodyPr/>
                    <a:lstStyle/>
                    <a:p>
                      <a:pPr indent="144145" algn="l" hangingPunct="0">
                        <a:lnSpc>
                          <a:spcPts val="1200"/>
                        </a:lnSpc>
                      </a:pPr>
                      <a:r>
                        <a:rPr lang="en-IN" sz="900" kern="100">
                          <a:effectLst/>
                        </a:rPr>
                        <a:t>Healthy Leaf</a:t>
                      </a:r>
                      <a:endParaRPr lang="en-IN" sz="1000" kern="100">
                        <a:effectLst/>
                        <a:latin typeface="Times New Roman" panose="02020603050405020304" pitchFamily="18" charset="0"/>
                        <a:ea typeface="Times New Roman" panose="02020603050405020304" pitchFamily="18" charset="0"/>
                        <a:cs typeface="Shruti" panose="020B0502040204020203" pitchFamily="34" charset="0"/>
                      </a:endParaRPr>
                    </a:p>
                  </a:txBody>
                  <a:tcPr marL="68580" marR="68580" marT="0" marB="0"/>
                </a:tc>
                <a:tc>
                  <a:txBody>
                    <a:bodyPr/>
                    <a:lstStyle/>
                    <a:p>
                      <a:pPr indent="144145" algn="l" hangingPunct="0">
                        <a:lnSpc>
                          <a:spcPts val="1200"/>
                        </a:lnSpc>
                      </a:pPr>
                      <a:r>
                        <a:rPr lang="en-IN" sz="900" kern="100" dirty="0">
                          <a:effectLst/>
                        </a:rPr>
                        <a:t>152</a:t>
                      </a:r>
                      <a:endParaRPr lang="en-IN" sz="1000" kern="100" dirty="0">
                        <a:effectLst/>
                        <a:latin typeface="Times New Roman" panose="02020603050405020304" pitchFamily="18" charset="0"/>
                        <a:ea typeface="Times New Roman" panose="02020603050405020304" pitchFamily="18" charset="0"/>
                        <a:cs typeface="Shruti" panose="020B0502040204020203" pitchFamily="34" charset="0"/>
                      </a:endParaRPr>
                    </a:p>
                  </a:txBody>
                  <a:tcPr marL="68580" marR="68580" marT="0" marB="0"/>
                </a:tc>
                <a:extLst>
                  <a:ext uri="{0D108BD9-81ED-4DB2-BD59-A6C34878D82A}">
                    <a16:rowId xmlns:a16="http://schemas.microsoft.com/office/drawing/2014/main" val="3564699878"/>
                  </a:ext>
                </a:extLst>
              </a:tr>
              <a:tr h="210579">
                <a:tc>
                  <a:txBody>
                    <a:bodyPr/>
                    <a:lstStyle/>
                    <a:p>
                      <a:pPr indent="144145" algn="l" hangingPunct="0">
                        <a:lnSpc>
                          <a:spcPts val="1200"/>
                        </a:lnSpc>
                      </a:pPr>
                      <a:r>
                        <a:rPr lang="en-IN" sz="900" kern="100">
                          <a:effectLst/>
                        </a:rPr>
                        <a:t>Late Blight</a:t>
                      </a:r>
                      <a:endParaRPr lang="en-IN" sz="1000" kern="100">
                        <a:effectLst/>
                        <a:latin typeface="Times New Roman" panose="02020603050405020304" pitchFamily="18" charset="0"/>
                        <a:ea typeface="Times New Roman" panose="02020603050405020304" pitchFamily="18" charset="0"/>
                        <a:cs typeface="Shruti" panose="020B0502040204020203" pitchFamily="34" charset="0"/>
                      </a:endParaRPr>
                    </a:p>
                  </a:txBody>
                  <a:tcPr marL="68580" marR="68580" marT="0" marB="0"/>
                </a:tc>
                <a:tc>
                  <a:txBody>
                    <a:bodyPr/>
                    <a:lstStyle/>
                    <a:p>
                      <a:pPr indent="144145" algn="l" hangingPunct="0">
                        <a:lnSpc>
                          <a:spcPts val="1200"/>
                        </a:lnSpc>
                      </a:pPr>
                      <a:r>
                        <a:rPr lang="en-IN" sz="900" kern="100">
                          <a:effectLst/>
                        </a:rPr>
                        <a:t>1000</a:t>
                      </a:r>
                      <a:endParaRPr lang="en-IN" sz="1000" kern="100">
                        <a:effectLst/>
                        <a:latin typeface="Times New Roman" panose="02020603050405020304" pitchFamily="18" charset="0"/>
                        <a:ea typeface="Times New Roman" panose="02020603050405020304" pitchFamily="18" charset="0"/>
                        <a:cs typeface="Shruti" panose="020B0502040204020203" pitchFamily="34" charset="0"/>
                      </a:endParaRPr>
                    </a:p>
                  </a:txBody>
                  <a:tcPr marL="68580" marR="68580" marT="0" marB="0"/>
                </a:tc>
                <a:extLst>
                  <a:ext uri="{0D108BD9-81ED-4DB2-BD59-A6C34878D82A}">
                    <a16:rowId xmlns:a16="http://schemas.microsoft.com/office/drawing/2014/main" val="1054345564"/>
                  </a:ext>
                </a:extLst>
              </a:tr>
              <a:tr h="210579">
                <a:tc>
                  <a:txBody>
                    <a:bodyPr/>
                    <a:lstStyle/>
                    <a:p>
                      <a:pPr indent="144145" algn="l" hangingPunct="0">
                        <a:lnSpc>
                          <a:spcPts val="1200"/>
                        </a:lnSpc>
                      </a:pPr>
                      <a:r>
                        <a:rPr lang="en-IN" sz="900" kern="100" dirty="0">
                          <a:effectLst/>
                        </a:rPr>
                        <a:t>Total</a:t>
                      </a:r>
                      <a:endParaRPr lang="en-IN" sz="1000" kern="100" dirty="0">
                        <a:effectLst/>
                        <a:latin typeface="Times New Roman" panose="02020603050405020304" pitchFamily="18" charset="0"/>
                        <a:ea typeface="Times New Roman" panose="02020603050405020304" pitchFamily="18" charset="0"/>
                        <a:cs typeface="Shruti" panose="020B0502040204020203" pitchFamily="34" charset="0"/>
                      </a:endParaRPr>
                    </a:p>
                  </a:txBody>
                  <a:tcPr marL="68580" marR="68580" marT="0" marB="0"/>
                </a:tc>
                <a:tc>
                  <a:txBody>
                    <a:bodyPr/>
                    <a:lstStyle/>
                    <a:p>
                      <a:pPr indent="144145" algn="l" hangingPunct="0">
                        <a:lnSpc>
                          <a:spcPts val="1200"/>
                        </a:lnSpc>
                      </a:pPr>
                      <a:r>
                        <a:rPr lang="en-IN" sz="900" kern="100" dirty="0">
                          <a:effectLst/>
                        </a:rPr>
                        <a:t>2152</a:t>
                      </a:r>
                      <a:endParaRPr lang="en-IN" sz="1000" kern="100" dirty="0">
                        <a:effectLst/>
                        <a:latin typeface="Times New Roman" panose="02020603050405020304" pitchFamily="18" charset="0"/>
                        <a:ea typeface="Times New Roman" panose="02020603050405020304" pitchFamily="18" charset="0"/>
                        <a:cs typeface="Shruti" panose="020B0502040204020203" pitchFamily="34" charset="0"/>
                      </a:endParaRPr>
                    </a:p>
                  </a:txBody>
                  <a:tcPr marL="68580" marR="68580" marT="0" marB="0"/>
                </a:tc>
                <a:extLst>
                  <a:ext uri="{0D108BD9-81ED-4DB2-BD59-A6C34878D82A}">
                    <a16:rowId xmlns:a16="http://schemas.microsoft.com/office/drawing/2014/main" val="280701824"/>
                  </a:ext>
                </a:extLst>
              </a:tr>
            </a:tbl>
          </a:graphicData>
        </a:graphic>
      </p:graphicFrame>
      <p:pic>
        <p:nvPicPr>
          <p:cNvPr id="12" name="Picture 11" descr="Basic Introduction to Convolutional Neural Network in Deep Learning">
            <a:extLst>
              <a:ext uri="{FF2B5EF4-FFF2-40B4-BE49-F238E27FC236}">
                <a16:creationId xmlns:a16="http://schemas.microsoft.com/office/drawing/2014/main" id="{F7FAD89D-10EA-A1D8-7E9A-6B463E2C718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737841" y="4141180"/>
            <a:ext cx="4301300" cy="1596267"/>
          </a:xfrm>
          <a:prstGeom prst="rect">
            <a:avLst/>
          </a:prstGeom>
          <a:noFill/>
          <a:ln>
            <a:noFill/>
          </a:ln>
        </p:spPr>
      </p:pic>
      <p:sp>
        <p:nvSpPr>
          <p:cNvPr id="4" name="Slide Number Placeholder 3">
            <a:extLst>
              <a:ext uri="{FF2B5EF4-FFF2-40B4-BE49-F238E27FC236}">
                <a16:creationId xmlns:a16="http://schemas.microsoft.com/office/drawing/2014/main" id="{C82541A1-4D46-6E45-759E-7A2DF1E525AA}"/>
              </a:ext>
            </a:extLst>
          </p:cNvPr>
          <p:cNvSpPr>
            <a:spLocks noGrp="1"/>
          </p:cNvSpPr>
          <p:nvPr>
            <p:ph type="sldNum" sz="quarter" idx="12"/>
          </p:nvPr>
        </p:nvSpPr>
        <p:spPr/>
        <p:txBody>
          <a:bodyPr/>
          <a:lstStyle/>
          <a:p>
            <a:fld id="{20FD3C23-7D33-4985-8AE7-711D75D685E8}" type="slidenum">
              <a:rPr lang="en-IN" smtClean="0"/>
              <a:t>7</a:t>
            </a:fld>
            <a:endParaRPr lang="en-IN"/>
          </a:p>
        </p:txBody>
      </p:sp>
    </p:spTree>
    <p:extLst>
      <p:ext uri="{BB962C8B-B14F-4D97-AF65-F5344CB8AC3E}">
        <p14:creationId xmlns:p14="http://schemas.microsoft.com/office/powerpoint/2010/main" val="597887387"/>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7102A3-5665-94ED-7B42-45C6EAB697B2}"/>
              </a:ext>
            </a:extLst>
          </p:cNvPr>
          <p:cNvSpPr>
            <a:spLocks noGrp="1"/>
          </p:cNvSpPr>
          <p:nvPr>
            <p:ph type="title"/>
          </p:nvPr>
        </p:nvSpPr>
        <p:spPr/>
        <p:txBody>
          <a:bodyPr>
            <a:normAutofit/>
          </a:bodyPr>
          <a:lstStyle/>
          <a:p>
            <a:r>
              <a:rPr lang="en-US" sz="4000" dirty="0"/>
              <a:t>Results and Discussion</a:t>
            </a:r>
            <a:endParaRPr lang="en-IN" sz="4000" dirty="0"/>
          </a:p>
        </p:txBody>
      </p:sp>
      <p:pic>
        <p:nvPicPr>
          <p:cNvPr id="13" name="Content Placeholder 12">
            <a:extLst>
              <a:ext uri="{FF2B5EF4-FFF2-40B4-BE49-F238E27FC236}">
                <a16:creationId xmlns:a16="http://schemas.microsoft.com/office/drawing/2014/main" id="{D247C526-9CEF-62CD-F291-B8C7BEFF5ACE}"/>
              </a:ext>
            </a:extLst>
          </p:cNvPr>
          <p:cNvPicPr>
            <a:picLocks noGrp="1" noChangeAspect="1"/>
          </p:cNvPicPr>
          <p:nvPr>
            <p:ph sz="half" idx="1"/>
          </p:nvPr>
        </p:nvPicPr>
        <p:blipFill>
          <a:blip r:embed="rId2"/>
          <a:stretch>
            <a:fillRect/>
          </a:stretch>
        </p:blipFill>
        <p:spPr>
          <a:xfrm>
            <a:off x="2395635" y="2667000"/>
            <a:ext cx="3071618" cy="3124200"/>
          </a:xfrm>
          <a:prstGeom prst="rect">
            <a:avLst/>
          </a:prstGeom>
        </p:spPr>
      </p:pic>
      <p:pic>
        <p:nvPicPr>
          <p:cNvPr id="12" name="Content Placeholder 11">
            <a:extLst>
              <a:ext uri="{FF2B5EF4-FFF2-40B4-BE49-F238E27FC236}">
                <a16:creationId xmlns:a16="http://schemas.microsoft.com/office/drawing/2014/main" id="{9F754EFB-7353-70AA-8982-42C8328EE683}"/>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7553563" y="2667000"/>
            <a:ext cx="3003074" cy="3124200"/>
          </a:xfrm>
        </p:spPr>
      </p:pic>
      <p:sp>
        <p:nvSpPr>
          <p:cNvPr id="4" name="Slide Number Placeholder 3">
            <a:extLst>
              <a:ext uri="{FF2B5EF4-FFF2-40B4-BE49-F238E27FC236}">
                <a16:creationId xmlns:a16="http://schemas.microsoft.com/office/drawing/2014/main" id="{8D1EB56B-7D82-0FEE-A80B-59CFAD7AD656}"/>
              </a:ext>
            </a:extLst>
          </p:cNvPr>
          <p:cNvSpPr>
            <a:spLocks noGrp="1"/>
          </p:cNvSpPr>
          <p:nvPr>
            <p:ph type="sldNum" sz="quarter" idx="12"/>
          </p:nvPr>
        </p:nvSpPr>
        <p:spPr/>
        <p:txBody>
          <a:bodyPr/>
          <a:lstStyle/>
          <a:p>
            <a:fld id="{20FD3C23-7D33-4985-8AE7-711D75D685E8}" type="slidenum">
              <a:rPr lang="en-IN" smtClean="0"/>
              <a:t>8</a:t>
            </a:fld>
            <a:endParaRPr lang="en-IN"/>
          </a:p>
        </p:txBody>
      </p:sp>
    </p:spTree>
    <p:extLst>
      <p:ext uri="{BB962C8B-B14F-4D97-AF65-F5344CB8AC3E}">
        <p14:creationId xmlns:p14="http://schemas.microsoft.com/office/powerpoint/2010/main" val="2609348639"/>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C6977C-A19B-D3B9-3FE5-312B81FCCCB4}"/>
              </a:ext>
            </a:extLst>
          </p:cNvPr>
          <p:cNvSpPr>
            <a:spLocks noGrp="1"/>
          </p:cNvSpPr>
          <p:nvPr>
            <p:ph type="title"/>
          </p:nvPr>
        </p:nvSpPr>
        <p:spPr/>
        <p:txBody>
          <a:bodyPr/>
          <a:lstStyle/>
          <a:p>
            <a:r>
              <a:rPr lang="en-US" sz="4000" dirty="0">
                <a:latin typeface="Times New Roman" panose="02020603050405020304" pitchFamily="18" charset="0"/>
                <a:cs typeface="Times New Roman" panose="02020603050405020304" pitchFamily="18" charset="0"/>
              </a:rPr>
              <a:t>Conclusion</a:t>
            </a:r>
            <a:endParaRPr lang="en-IN"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2317FE16-D25F-8F84-FB62-1B67C480B7E3}"/>
              </a:ext>
            </a:extLst>
          </p:cNvPr>
          <p:cNvSpPr>
            <a:spLocks noGrp="1"/>
          </p:cNvSpPr>
          <p:nvPr>
            <p:ph idx="1"/>
          </p:nvPr>
        </p:nvSpPr>
        <p:spPr/>
        <p:txBody>
          <a:bodyPr>
            <a:normAutofit/>
          </a:bodyPr>
          <a:lstStyle/>
          <a:p>
            <a:pPr marL="0" indent="0" algn="just">
              <a:buNone/>
            </a:pPr>
            <a:r>
              <a:rPr lang="en-US" sz="2000" dirty="0">
                <a:latin typeface="Times New Roman" panose="02020603050405020304" pitchFamily="18" charset="0"/>
                <a:cs typeface="Times New Roman" panose="02020603050405020304" pitchFamily="18" charset="0"/>
              </a:rPr>
              <a:t> In Conclusion, To identify late blight, early blight, and healthy leaf pictures in potato plants, this study suggests a classification-based strategy employing deep learning techniques, notably convolutional neural networks (CNN). With an impressive accuracy of 99.01%, the researchers discovered that CNN is the best approach for this kind of categorization. The agricultural industry, especially in India where many farmers lack literacy and understanding of plant diseases, greatly benefits from the work being done on this initiative. By increasing disease knowledge and control, this effort might have a large positive impact on potato producers. </a:t>
            </a:r>
            <a:endParaRPr lang="en-IN" sz="20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47392201-C0DD-E433-F278-23095C89BFD2}"/>
              </a:ext>
            </a:extLst>
          </p:cNvPr>
          <p:cNvSpPr>
            <a:spLocks noGrp="1"/>
          </p:cNvSpPr>
          <p:nvPr>
            <p:ph type="sldNum" sz="quarter" idx="12"/>
          </p:nvPr>
        </p:nvSpPr>
        <p:spPr/>
        <p:txBody>
          <a:bodyPr/>
          <a:lstStyle/>
          <a:p>
            <a:fld id="{20FD3C23-7D33-4985-8AE7-711D75D685E8}" type="slidenum">
              <a:rPr lang="en-IN" smtClean="0"/>
              <a:t>9</a:t>
            </a:fld>
            <a:endParaRPr lang="en-IN"/>
          </a:p>
        </p:txBody>
      </p:sp>
    </p:spTree>
    <p:extLst>
      <p:ext uri="{BB962C8B-B14F-4D97-AF65-F5344CB8AC3E}">
        <p14:creationId xmlns:p14="http://schemas.microsoft.com/office/powerpoint/2010/main" val="4270535984"/>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6F7D26-1CBC-DA83-3FB9-C3F1A37345CC}"/>
              </a:ext>
            </a:extLst>
          </p:cNvPr>
          <p:cNvSpPr>
            <a:spLocks noGrp="1"/>
          </p:cNvSpPr>
          <p:nvPr>
            <p:ph type="title"/>
          </p:nvPr>
        </p:nvSpPr>
        <p:spPr/>
        <p:txBody>
          <a:bodyPr>
            <a:normAutofit/>
          </a:bodyPr>
          <a:lstStyle/>
          <a:p>
            <a:r>
              <a:rPr lang="en-US" dirty="0"/>
              <a:t>References</a:t>
            </a:r>
            <a:endParaRPr lang="en-IN" dirty="0"/>
          </a:p>
        </p:txBody>
      </p:sp>
      <p:sp>
        <p:nvSpPr>
          <p:cNvPr id="3" name="Content Placeholder 2">
            <a:extLst>
              <a:ext uri="{FF2B5EF4-FFF2-40B4-BE49-F238E27FC236}">
                <a16:creationId xmlns:a16="http://schemas.microsoft.com/office/drawing/2014/main" id="{2C3881B0-1237-8BFB-6699-9A6B732980CC}"/>
              </a:ext>
            </a:extLst>
          </p:cNvPr>
          <p:cNvSpPr>
            <a:spLocks noGrp="1"/>
          </p:cNvSpPr>
          <p:nvPr>
            <p:ph idx="1"/>
          </p:nvPr>
        </p:nvSpPr>
        <p:spPr/>
        <p:txBody>
          <a:bodyPr>
            <a:normAutofit fontScale="92500"/>
          </a:bodyPr>
          <a:lstStyle/>
          <a:p>
            <a:pPr algn="just">
              <a:buFont typeface="Wingdings" panose="05000000000000000000" pitchFamily="2" charset="2"/>
              <a:buChar char="Ø"/>
            </a:pPr>
            <a:r>
              <a:rPr lang="en-IN" sz="1400" dirty="0">
                <a:latin typeface="Times New Roman" panose="02020603050405020304" pitchFamily="18" charset="0"/>
                <a:cs typeface="Times New Roman" panose="02020603050405020304" pitchFamily="18" charset="0"/>
              </a:rPr>
              <a:t>S. Biswas, B. </a:t>
            </a:r>
            <a:r>
              <a:rPr lang="en-IN" sz="1400" dirty="0" err="1">
                <a:latin typeface="Times New Roman" panose="02020603050405020304" pitchFamily="18" charset="0"/>
                <a:cs typeface="Times New Roman" panose="02020603050405020304" pitchFamily="18" charset="0"/>
              </a:rPr>
              <a:t>Jagyasi</a:t>
            </a:r>
            <a:r>
              <a:rPr lang="en-IN" sz="1400" dirty="0">
                <a:latin typeface="Times New Roman" panose="02020603050405020304" pitchFamily="18" charset="0"/>
                <a:cs typeface="Times New Roman" panose="02020603050405020304" pitchFamily="18" charset="0"/>
              </a:rPr>
              <a:t>, B. P. Singh and M. Lal, "Severity identification of Potato Late Blight disease from crop images captured under uncontrolled environment," 2014 IEEE Canada International Humanitarian Technology Conference - (IHTC), Montreal, QC, Canada, 2014, </a:t>
            </a:r>
          </a:p>
          <a:p>
            <a:pPr algn="just">
              <a:buFont typeface="Wingdings" panose="05000000000000000000" pitchFamily="2" charset="2"/>
              <a:buChar char="Ø"/>
            </a:pPr>
            <a:r>
              <a:rPr lang="en-IN" sz="1400" dirty="0">
                <a:latin typeface="Times New Roman" panose="02020603050405020304" pitchFamily="18" charset="0"/>
                <a:cs typeface="Times New Roman" panose="02020603050405020304" pitchFamily="18" charset="0"/>
              </a:rPr>
              <a:t>M. I. Tarik, S. Akter, A. A. Mamun and A. Sattar, "Potato Disease Detection Using Machine Learning," 2021 Third International Conference on Intelligent Communication Technologies and Virtual Mobile Networks (ICICV), Tirunelveli, India, 2021, pp.800-803,doi:10.1109/ICICV50876.  2021.9388606.</a:t>
            </a:r>
          </a:p>
          <a:p>
            <a:pPr algn="just">
              <a:buFont typeface="Wingdings" panose="05000000000000000000" pitchFamily="2" charset="2"/>
              <a:buChar char="Ø"/>
            </a:pPr>
            <a:r>
              <a:rPr lang="en-IN" sz="1400" dirty="0">
                <a:latin typeface="Times New Roman" panose="02020603050405020304" pitchFamily="18" charset="0"/>
                <a:cs typeface="Times New Roman" panose="02020603050405020304" pitchFamily="18" charset="0"/>
              </a:rPr>
              <a:t>M.  Islam, A.  Dinh,  K.  Wahid,  and P.  Bhowmik,  Detection of potato diseases using image segmentation and multiclass support vector machine 2017, Can. Conf. </a:t>
            </a:r>
            <a:r>
              <a:rPr lang="en-IN" sz="1400" dirty="0" err="1">
                <a:latin typeface="Times New Roman" panose="02020603050405020304" pitchFamily="18" charset="0"/>
                <a:cs typeface="Times New Roman" panose="02020603050405020304" pitchFamily="18" charset="0"/>
              </a:rPr>
              <a:t>Electr</a:t>
            </a:r>
            <a:r>
              <a:rPr lang="en-IN" sz="1400" dirty="0">
                <a:latin typeface="Times New Roman" panose="02020603050405020304" pitchFamily="18" charset="0"/>
                <a:cs typeface="Times New Roman" panose="02020603050405020304" pitchFamily="18" charset="0"/>
              </a:rPr>
              <a:t>. </a:t>
            </a:r>
            <a:r>
              <a:rPr lang="en-IN" sz="1400" dirty="0" err="1">
                <a:latin typeface="Times New Roman" panose="02020603050405020304" pitchFamily="18" charset="0"/>
                <a:cs typeface="Times New Roman" panose="02020603050405020304" pitchFamily="18" charset="0"/>
              </a:rPr>
              <a:t>Comput</a:t>
            </a:r>
            <a:r>
              <a:rPr lang="en-IN" sz="1400" dirty="0">
                <a:latin typeface="Times New Roman" panose="02020603050405020304" pitchFamily="18" charset="0"/>
                <a:cs typeface="Times New Roman" panose="02020603050405020304" pitchFamily="18" charset="0"/>
              </a:rPr>
              <a:t>. Eng.,  8–11.</a:t>
            </a:r>
          </a:p>
          <a:p>
            <a:pPr algn="just">
              <a:buFont typeface="Wingdings" panose="05000000000000000000" pitchFamily="2" charset="2"/>
              <a:buChar char="Ø"/>
            </a:pPr>
            <a:r>
              <a:rPr lang="en-IN" sz="1400" dirty="0">
                <a:latin typeface="Times New Roman" panose="02020603050405020304" pitchFamily="18" charset="0"/>
                <a:cs typeface="Times New Roman" panose="02020603050405020304" pitchFamily="18" charset="0"/>
              </a:rPr>
              <a:t>S. R. </a:t>
            </a:r>
            <a:r>
              <a:rPr lang="en-IN" sz="1400" dirty="0" err="1">
                <a:latin typeface="Times New Roman" panose="02020603050405020304" pitchFamily="18" charset="0"/>
                <a:cs typeface="Times New Roman" panose="02020603050405020304" pitchFamily="18" charset="0"/>
              </a:rPr>
              <a:t>Maniyath</a:t>
            </a:r>
            <a:r>
              <a:rPr lang="en-IN" sz="1400" dirty="0">
                <a:latin typeface="Times New Roman" panose="02020603050405020304" pitchFamily="18" charset="0"/>
                <a:cs typeface="Times New Roman" panose="02020603050405020304" pitchFamily="18" charset="0"/>
              </a:rPr>
              <a:t> et al., Plant disease detection using machine learning 2018, Proc. 2018 Int. Conf. Des. </a:t>
            </a:r>
            <a:r>
              <a:rPr lang="en-IN" sz="1400" dirty="0" err="1">
                <a:latin typeface="Times New Roman" panose="02020603050405020304" pitchFamily="18" charset="0"/>
                <a:cs typeface="Times New Roman" panose="02020603050405020304" pitchFamily="18" charset="0"/>
              </a:rPr>
              <a:t>Innov</a:t>
            </a:r>
            <a:r>
              <a:rPr lang="en-IN" sz="1400" dirty="0">
                <a:latin typeface="Times New Roman" panose="02020603050405020304" pitchFamily="18" charset="0"/>
                <a:cs typeface="Times New Roman" panose="02020603050405020304" pitchFamily="18" charset="0"/>
              </a:rPr>
              <a:t>. 3Cs </a:t>
            </a:r>
            <a:r>
              <a:rPr lang="en-IN" sz="1400" dirty="0" err="1">
                <a:latin typeface="Times New Roman" panose="02020603050405020304" pitchFamily="18" charset="0"/>
                <a:cs typeface="Times New Roman" panose="02020603050405020304" pitchFamily="18" charset="0"/>
              </a:rPr>
              <a:t>Comput</a:t>
            </a:r>
            <a:r>
              <a:rPr lang="en-IN" sz="1400" dirty="0">
                <a:latin typeface="Times New Roman" panose="02020603050405020304" pitchFamily="18" charset="0"/>
                <a:cs typeface="Times New Roman" panose="02020603050405020304" pitchFamily="18" charset="0"/>
              </a:rPr>
              <a:t>. </a:t>
            </a:r>
            <a:r>
              <a:rPr lang="en-IN" sz="1400" dirty="0" err="1">
                <a:latin typeface="Times New Roman" panose="02020603050405020304" pitchFamily="18" charset="0"/>
                <a:cs typeface="Times New Roman" panose="02020603050405020304" pitchFamily="18" charset="0"/>
              </a:rPr>
              <a:t>Commun</a:t>
            </a:r>
            <a:r>
              <a:rPr lang="en-IN" sz="1400" dirty="0">
                <a:latin typeface="Times New Roman" panose="02020603050405020304" pitchFamily="18" charset="0"/>
                <a:cs typeface="Times New Roman" panose="02020603050405020304" pitchFamily="18" charset="0"/>
              </a:rPr>
              <a:t>. Control., 41–5. </a:t>
            </a:r>
          </a:p>
          <a:p>
            <a:pPr algn="just">
              <a:buFont typeface="Wingdings" panose="05000000000000000000" pitchFamily="2" charset="2"/>
              <a:buChar char="Ø"/>
            </a:pPr>
            <a:r>
              <a:rPr lang="en-IN" sz="1400" dirty="0">
                <a:latin typeface="Times New Roman" panose="02020603050405020304" pitchFamily="18" charset="0"/>
                <a:cs typeface="Times New Roman" panose="02020603050405020304" pitchFamily="18" charset="0"/>
              </a:rPr>
              <a:t>J. P. Shah, H. B. Prajapati, and V. K. Dabhi, A survey on detection and classification of rice plant diseases 2016, 2016 IEEE Int. Conf. </a:t>
            </a:r>
            <a:r>
              <a:rPr lang="en-IN" sz="1400" dirty="0" err="1">
                <a:latin typeface="Times New Roman" panose="02020603050405020304" pitchFamily="18" charset="0"/>
                <a:cs typeface="Times New Roman" panose="02020603050405020304" pitchFamily="18" charset="0"/>
              </a:rPr>
              <a:t>Curr</a:t>
            </a:r>
            <a:r>
              <a:rPr lang="en-IN" sz="1400" dirty="0">
                <a:latin typeface="Times New Roman" panose="02020603050405020304" pitchFamily="18" charset="0"/>
                <a:cs typeface="Times New Roman" panose="02020603050405020304" pitchFamily="18" charset="0"/>
              </a:rPr>
              <a:t>. Trends Adv. </a:t>
            </a:r>
            <a:r>
              <a:rPr lang="en-IN" sz="1400" dirty="0" err="1">
                <a:latin typeface="Times New Roman" panose="02020603050405020304" pitchFamily="18" charset="0"/>
                <a:cs typeface="Times New Roman" panose="02020603050405020304" pitchFamily="18" charset="0"/>
              </a:rPr>
              <a:t>Comput</a:t>
            </a:r>
            <a:r>
              <a:rPr lang="en-IN" sz="1400" dirty="0">
                <a:latin typeface="Times New Roman" panose="02020603050405020304" pitchFamily="18" charset="0"/>
                <a:cs typeface="Times New Roman" panose="02020603050405020304" pitchFamily="18" charset="0"/>
              </a:rPr>
              <a:t>.</a:t>
            </a:r>
          </a:p>
          <a:p>
            <a:pPr algn="just">
              <a:buFont typeface="Wingdings" panose="05000000000000000000" pitchFamily="2" charset="2"/>
              <a:buChar char="Ø"/>
            </a:pPr>
            <a:r>
              <a:rPr lang="en-IN" sz="1400" dirty="0">
                <a:latin typeface="Times New Roman" panose="02020603050405020304" pitchFamily="18" charset="0"/>
                <a:cs typeface="Times New Roman" panose="02020603050405020304" pitchFamily="18" charset="0"/>
              </a:rPr>
              <a:t>Suresh V, Gopinath D, </a:t>
            </a:r>
            <a:r>
              <a:rPr lang="en-IN" sz="1400" dirty="0" err="1">
                <a:latin typeface="Times New Roman" panose="02020603050405020304" pitchFamily="18" charset="0"/>
                <a:cs typeface="Times New Roman" panose="02020603050405020304" pitchFamily="18" charset="0"/>
              </a:rPr>
              <a:t>Hemavarthini</a:t>
            </a:r>
            <a:r>
              <a:rPr lang="en-IN" sz="1400" dirty="0">
                <a:latin typeface="Times New Roman" panose="02020603050405020304" pitchFamily="18" charset="0"/>
                <a:cs typeface="Times New Roman" panose="02020603050405020304" pitchFamily="18" charset="0"/>
              </a:rPr>
              <a:t> M, </a:t>
            </a:r>
            <a:r>
              <a:rPr lang="en-IN" sz="1400" dirty="0" err="1">
                <a:latin typeface="Times New Roman" panose="02020603050405020304" pitchFamily="18" charset="0"/>
                <a:cs typeface="Times New Roman" panose="02020603050405020304" pitchFamily="18" charset="0"/>
              </a:rPr>
              <a:t>Jayanthan</a:t>
            </a:r>
            <a:r>
              <a:rPr lang="en-IN" sz="1400" dirty="0">
                <a:latin typeface="Times New Roman" panose="02020603050405020304" pitchFamily="18" charset="0"/>
                <a:cs typeface="Times New Roman" panose="02020603050405020304" pitchFamily="18" charset="0"/>
              </a:rPr>
              <a:t> K, and Mohana Krishnan, Plant dis-ease using image processing 2020, IJERT, 9, 78-82</a:t>
            </a:r>
          </a:p>
        </p:txBody>
      </p:sp>
      <p:sp>
        <p:nvSpPr>
          <p:cNvPr id="5" name="Slide Number Placeholder 4">
            <a:extLst>
              <a:ext uri="{FF2B5EF4-FFF2-40B4-BE49-F238E27FC236}">
                <a16:creationId xmlns:a16="http://schemas.microsoft.com/office/drawing/2014/main" id="{2A02DD79-8DEE-4EA5-0BE5-7D4ABE58CF90}"/>
              </a:ext>
            </a:extLst>
          </p:cNvPr>
          <p:cNvSpPr>
            <a:spLocks noGrp="1"/>
          </p:cNvSpPr>
          <p:nvPr>
            <p:ph type="sldNum" sz="quarter" idx="12"/>
          </p:nvPr>
        </p:nvSpPr>
        <p:spPr/>
        <p:txBody>
          <a:bodyPr/>
          <a:lstStyle/>
          <a:p>
            <a:fld id="{20FD3C23-7D33-4985-8AE7-711D75D685E8}" type="slidenum">
              <a:rPr lang="en-IN" smtClean="0"/>
              <a:t>10</a:t>
            </a:fld>
            <a:endParaRPr lang="en-IN"/>
          </a:p>
        </p:txBody>
      </p:sp>
    </p:spTree>
    <p:extLst>
      <p:ext uri="{BB962C8B-B14F-4D97-AF65-F5344CB8AC3E}">
        <p14:creationId xmlns:p14="http://schemas.microsoft.com/office/powerpoint/2010/main" val="1643825878"/>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7ECE9A3-A730-6935-DBC8-4F34DCCD34A2}"/>
              </a:ext>
            </a:extLst>
          </p:cNvPr>
          <p:cNvSpPr>
            <a:spLocks noGrp="1"/>
          </p:cNvSpPr>
          <p:nvPr>
            <p:ph type="sldNum" sz="quarter" idx="12"/>
          </p:nvPr>
        </p:nvSpPr>
        <p:spPr/>
        <p:txBody>
          <a:bodyPr/>
          <a:lstStyle/>
          <a:p>
            <a:fld id="{20FD3C23-7D33-4985-8AE7-711D75D685E8}" type="slidenum">
              <a:rPr lang="en-IN" smtClean="0"/>
              <a:t>11</a:t>
            </a:fld>
            <a:endParaRPr lang="en-IN"/>
          </a:p>
        </p:txBody>
      </p:sp>
      <p:pic>
        <p:nvPicPr>
          <p:cNvPr id="1028" name="Picture 4" descr="Thank You Images – Browse 243,647 Stock Photos, Vectors, and Video | Adobe  Stock">
            <a:extLst>
              <a:ext uri="{FF2B5EF4-FFF2-40B4-BE49-F238E27FC236}">
                <a16:creationId xmlns:a16="http://schemas.microsoft.com/office/drawing/2014/main" id="{3CF00510-1339-25A6-CDDE-24AC1DC8094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55988" y="2442287"/>
            <a:ext cx="4005456" cy="22505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5246298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TM03457496[[fn=Parallax]]</Template>
  <TotalTime>281</TotalTime>
  <Words>898</Words>
  <Application>Microsoft Office PowerPoint</Application>
  <PresentationFormat>Widescreen</PresentationFormat>
  <Paragraphs>92</Paragraphs>
  <Slides>11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Arial</vt:lpstr>
      <vt:lpstr>Calibri</vt:lpstr>
      <vt:lpstr>Corbel</vt:lpstr>
      <vt:lpstr>Proxima Nova</vt:lpstr>
      <vt:lpstr>Times New Roman</vt:lpstr>
      <vt:lpstr>Wingdings</vt:lpstr>
      <vt:lpstr>Parallax</vt:lpstr>
      <vt:lpstr>Potato Leaf Disease Detection</vt:lpstr>
      <vt:lpstr>Outline</vt:lpstr>
      <vt:lpstr>INTRODUCTION</vt:lpstr>
      <vt:lpstr>Continue…</vt:lpstr>
      <vt:lpstr>LITERATURE SURVEY</vt:lpstr>
      <vt:lpstr>Methodology</vt:lpstr>
      <vt:lpstr>PowerPoint Presentation</vt:lpstr>
      <vt:lpstr>Results and Discussion</vt:lpstr>
      <vt:lpstr>Conclusion</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Potato Leaf Disease Detection</dc:title>
  <dc:creator>DEEP ROHIT</dc:creator>
  <cp:lastModifiedBy>DEEP ROHIT</cp:lastModifiedBy>
  <cp:revision>220</cp:revision>
  <dcterms:created xsi:type="dcterms:W3CDTF">2023-08-13T04:18:39Z</dcterms:created>
  <dcterms:modified xsi:type="dcterms:W3CDTF">2023-10-17T06:18:45Z</dcterms:modified>
</cp:coreProperties>
</file>